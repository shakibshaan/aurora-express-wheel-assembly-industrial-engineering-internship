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3"/>
  </p:sldMasterIdLst>
  <p:notesMasterIdLst>
    <p:notesMasterId r:id="rId8"/>
  </p:notesMasterIdLst>
  <p:sldIdLst>
    <p:sldId id="256" r:id="rId4"/>
    <p:sldId id="264" r:id="rId5"/>
    <p:sldId id="259" r:id="rId6"/>
    <p:sldId id="268" r:id="rId7"/>
    <p:sldId id="269" r:id="rId9"/>
    <p:sldId id="271" r:id="rId10"/>
    <p:sldId id="272" r:id="rId11"/>
    <p:sldId id="273" r:id="rId12"/>
    <p:sldId id="283" r:id="rId13"/>
    <p:sldId id="274" r:id="rId14"/>
    <p:sldId id="275" r:id="rId15"/>
    <p:sldId id="276" r:id="rId16"/>
    <p:sldId id="277" r:id="rId17"/>
    <p:sldId id="278" r:id="rId18"/>
    <p:sldId id="279" r:id="rId19"/>
    <p:sldId id="280" r:id="rId20"/>
    <p:sldId id="281"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39"/>
    <p:restoredTop sz="94724"/>
  </p:normalViewPr>
  <p:slideViewPr>
    <p:cSldViewPr snapToGrid="0">
      <p:cViewPr varScale="1">
        <p:scale>
          <a:sx n="96" d="100"/>
          <a:sy n="96" d="100"/>
        </p:scale>
        <p:origin x="168"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notesMaster" Target="notesMasters/notes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8693137-80E6-8145-977E-3B7D2E039F1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8693137-80E6-8145-977E-3B7D2E039F1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8693137-80E6-8145-977E-3B7D2E039F1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693137-80E6-8145-977E-3B7D2E039F1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8693137-80E6-8145-977E-3B7D2E039F1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8693137-80E6-8145-977E-3B7D2E039F1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8693137-80E6-8145-977E-3B7D2E039F1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8693137-80E6-8145-977E-3B7D2E039F1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8693137-80E6-8145-977E-3B7D2E039F1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693137-80E6-8145-977E-3B7D2E039F1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8693137-80E6-8145-977E-3B7D2E039F1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8693137-80E6-8145-977E-3B7D2E039F1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8693137-80E6-8145-977E-3B7D2E039F1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C0542-8E53-D640-98E4-9A9D0922953E}"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693137-80E6-8145-977E-3B7D2E039F11}"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2C0542-8E53-D640-98E4-9A9D0922953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693137-80E6-8145-977E-3B7D2E039F11}"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2C0542-8E53-D640-98E4-9A9D0922953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590662" y="4267832"/>
            <a:ext cx="4805996" cy="1297115"/>
          </a:xfrm>
        </p:spPr>
        <p:txBody>
          <a:bodyPr anchor="t">
            <a:normAutofit/>
          </a:bodyPr>
          <a:lstStyle/>
          <a:p>
            <a:pPr algn="l"/>
            <a:r>
              <a:rPr lang="en-US" sz="4000" dirty="0">
                <a:solidFill>
                  <a:schemeClr val="tx2"/>
                </a:solidFill>
              </a:rPr>
              <a:t>Wheel Assembly Layout Proposal</a:t>
            </a:r>
            <a:endParaRPr lang="en-US" sz="4000" dirty="0">
              <a:solidFill>
                <a:schemeClr val="tx2"/>
              </a:solidFill>
            </a:endParaRPr>
          </a:p>
        </p:txBody>
      </p:sp>
      <p:sp>
        <p:nvSpPr>
          <p:cNvPr id="3" name="Subtitle 2"/>
          <p:cNvSpPr>
            <a:spLocks noGrp="1"/>
          </p:cNvSpPr>
          <p:nvPr>
            <p:ph type="subTitle" idx="1"/>
          </p:nvPr>
        </p:nvSpPr>
        <p:spPr>
          <a:xfrm>
            <a:off x="6590966" y="3428999"/>
            <a:ext cx="4805691" cy="838831"/>
          </a:xfrm>
        </p:spPr>
        <p:txBody>
          <a:bodyPr anchor="b">
            <a:normAutofit/>
          </a:bodyPr>
          <a:lstStyle/>
          <a:p>
            <a:pPr algn="l"/>
            <a:r>
              <a:rPr lang="en-US" sz="2000" dirty="0">
                <a:solidFill>
                  <a:schemeClr val="tx2"/>
                </a:solidFill>
              </a:rPr>
              <a:t>Project Velocity: Aurora Express</a:t>
            </a:r>
            <a:endParaRPr lang="en-US" sz="2000" dirty="0">
              <a:solidFill>
                <a:schemeClr val="tx2"/>
              </a:solidFill>
            </a:endParaRPr>
          </a:p>
        </p:txBody>
      </p:sp>
      <p:pic>
        <p:nvPicPr>
          <p:cNvPr id="4" name="Picture 2" descr="Siemens Logo and symbol, meaning, history, PNG, brand"/>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340470" y="2721330"/>
            <a:ext cx="4141760" cy="2329740"/>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grpSp>
        <p:nvGrpSpPr>
          <p:cNvPr id="13" name="Group 12"/>
          <p:cNvGrpSpPr>
            <a:grpSpLocks noGrp="1" noRot="1" noChangeAspect="1" noMove="1" noResize="1" noUngrp="1"/>
          </p:cNvGrpSpPr>
          <p:nvPr/>
        </p:nvGrpSpPr>
        <p:grpSpPr>
          <a:xfrm>
            <a:off x="-4253" y="-5977"/>
            <a:ext cx="6238675" cy="6863979"/>
            <a:chOff x="305" y="-5977"/>
            <a:chExt cx="6238675" cy="6863979"/>
          </a:xfrm>
        </p:grpSpPr>
        <p:sp>
          <p:nvSpPr>
            <p:cNvPr id="14" name="Freeform: Shape 13"/>
            <p:cNvSpPr/>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p:cNvSpPr/>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p:cNvSpPr/>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846415" y="786923"/>
            <a:ext cx="10500403" cy="4885178"/>
            <a:chOff x="846415" y="786923"/>
            <a:chExt cx="10500403" cy="4885178"/>
          </a:xfrm>
        </p:grpSpPr>
        <p:grpSp>
          <p:nvGrpSpPr>
            <p:cNvPr id="22" name="Group 21"/>
            <p:cNvGrpSpPr/>
            <p:nvPr/>
          </p:nvGrpSpPr>
          <p:grpSpPr>
            <a:xfrm>
              <a:off x="846415" y="786923"/>
              <a:ext cx="10500403" cy="4885178"/>
              <a:chOff x="846415" y="786923"/>
              <a:chExt cx="10500403" cy="4885178"/>
            </a:xfrm>
          </p:grpSpPr>
          <p:sp>
            <p:nvSpPr>
              <p:cNvPr id="4" name="Rectangle 3"/>
              <p:cNvSpPr/>
              <p:nvPr/>
            </p:nvSpPr>
            <p:spPr>
              <a:xfrm>
                <a:off x="892628" y="881154"/>
                <a:ext cx="10406743" cy="46917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182916"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57915" y="5430793"/>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14048"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412362"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615734"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171416"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46415" y="786923"/>
                <a:ext cx="1754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002548"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400862"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604234"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p:cNvSpPr/>
            <p:nvPr/>
          </p:nvSpPr>
          <p:spPr>
            <a:xfrm>
              <a:off x="1242204" y="1190445"/>
              <a:ext cx="9713343" cy="4088921"/>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ysClr val="windowText" lastClr="000000"/>
                  </a:solidFill>
                </a:rPr>
                <a:t>                                                                                  </a:t>
              </a:r>
              <a:endParaRPr lang="en-US" dirty="0">
                <a:solidFill>
                  <a:sysClr val="windowText" lastClr="000000"/>
                </a:solidFill>
              </a:endParaRPr>
            </a:p>
          </p:txBody>
        </p:sp>
      </p:grpSp>
      <p:sp>
        <p:nvSpPr>
          <p:cNvPr id="3" name="Rectangle 2"/>
          <p:cNvSpPr/>
          <p:nvPr/>
        </p:nvSpPr>
        <p:spPr>
          <a:xfrm>
            <a:off x="1245593" y="2139468"/>
            <a:ext cx="1810932" cy="2191109"/>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WHEEL</a:t>
            </a:r>
            <a:endParaRPr lang="en-US" sz="1200" dirty="0">
              <a:solidFill>
                <a:schemeClr val="tx1"/>
              </a:solidFill>
            </a:endParaRPr>
          </a:p>
          <a:p>
            <a:pPr algn="ctr"/>
            <a:r>
              <a:rPr lang="en-US" sz="1200" dirty="0">
                <a:solidFill>
                  <a:schemeClr val="tx1"/>
                </a:solidFill>
              </a:rPr>
              <a:t>PRESS</a:t>
            </a:r>
            <a:endParaRPr lang="en-US" sz="1200" dirty="0">
              <a:solidFill>
                <a:schemeClr val="tx1"/>
              </a:solidFill>
            </a:endParaRPr>
          </a:p>
        </p:txBody>
      </p:sp>
      <p:sp>
        <p:nvSpPr>
          <p:cNvPr id="5" name="Rectangle 4"/>
          <p:cNvSpPr/>
          <p:nvPr/>
        </p:nvSpPr>
        <p:spPr>
          <a:xfrm>
            <a:off x="3339040" y="1501000"/>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1</a:t>
            </a:r>
            <a:endParaRPr lang="en-US" sz="1200" dirty="0">
              <a:solidFill>
                <a:schemeClr val="tx1"/>
              </a:solidFill>
            </a:endParaRPr>
          </a:p>
        </p:txBody>
      </p:sp>
      <p:sp>
        <p:nvSpPr>
          <p:cNvPr id="26" name="Rectangle 25"/>
          <p:cNvSpPr/>
          <p:nvPr/>
        </p:nvSpPr>
        <p:spPr>
          <a:xfrm>
            <a:off x="8949087" y="1190444"/>
            <a:ext cx="1997319" cy="2191109"/>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WAREHOUSE</a:t>
            </a:r>
            <a:endParaRPr lang="en-US" sz="1200" dirty="0">
              <a:solidFill>
                <a:schemeClr val="tx1"/>
              </a:solidFill>
            </a:endParaRPr>
          </a:p>
        </p:txBody>
      </p:sp>
      <p:sp>
        <p:nvSpPr>
          <p:cNvPr id="28" name="Rectangle 27"/>
          <p:cNvSpPr/>
          <p:nvPr/>
        </p:nvSpPr>
        <p:spPr>
          <a:xfrm>
            <a:off x="3339040" y="3920340"/>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3</a:t>
            </a:r>
            <a:endParaRPr lang="en-US" sz="1200" dirty="0">
              <a:solidFill>
                <a:schemeClr val="tx1"/>
              </a:solidFill>
            </a:endParaRPr>
          </a:p>
        </p:txBody>
      </p:sp>
      <p:sp>
        <p:nvSpPr>
          <p:cNvPr id="29" name="Rectangle 28"/>
          <p:cNvSpPr/>
          <p:nvPr/>
        </p:nvSpPr>
        <p:spPr>
          <a:xfrm>
            <a:off x="5849462" y="3920340"/>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4</a:t>
            </a:r>
            <a:endParaRPr lang="en-US" sz="1200" dirty="0">
              <a:solidFill>
                <a:schemeClr val="tx1"/>
              </a:solidFill>
            </a:endParaRPr>
          </a:p>
        </p:txBody>
      </p:sp>
      <p:grpSp>
        <p:nvGrpSpPr>
          <p:cNvPr id="51" name="Group 50"/>
          <p:cNvGrpSpPr/>
          <p:nvPr/>
        </p:nvGrpSpPr>
        <p:grpSpPr>
          <a:xfrm>
            <a:off x="3339041" y="2948555"/>
            <a:ext cx="7607365" cy="1192356"/>
            <a:chOff x="3339041" y="2948555"/>
            <a:chExt cx="7607365" cy="1192356"/>
          </a:xfrm>
          <a:solidFill>
            <a:srgbClr val="FFFF00">
              <a:alpha val="29804"/>
            </a:srgbClr>
          </a:solidFill>
        </p:grpSpPr>
        <p:sp>
          <p:nvSpPr>
            <p:cNvPr id="42" name="Rectangle 41"/>
            <p:cNvSpPr/>
            <p:nvPr/>
          </p:nvSpPr>
          <p:spPr>
            <a:xfrm>
              <a:off x="3339041" y="2948555"/>
              <a:ext cx="5033005" cy="5995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658001" y="3541375"/>
              <a:ext cx="3288405" cy="5995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2541248" y="812570"/>
            <a:ext cx="1275487" cy="4805356"/>
            <a:chOff x="6232383" y="818869"/>
            <a:chExt cx="1275487" cy="4805356"/>
          </a:xfrm>
          <a:solidFill>
            <a:srgbClr val="000000">
              <a:alpha val="50196"/>
            </a:srgbClr>
          </a:solidFill>
        </p:grpSpPr>
        <p:sp>
          <p:nvSpPr>
            <p:cNvPr id="46" name="Rectangle 45"/>
            <p:cNvSpPr/>
            <p:nvPr/>
          </p:nvSpPr>
          <p:spPr>
            <a:xfrm>
              <a:off x="6488087" y="872197"/>
              <a:ext cx="163903" cy="4691743"/>
            </a:xfrm>
            <a:prstGeom prst="rect">
              <a:avLst/>
            </a:prstGeom>
            <a:grp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7110621" y="872196"/>
              <a:ext cx="163903" cy="4691743"/>
            </a:xfrm>
            <a:prstGeom prst="rect">
              <a:avLst/>
            </a:prstGeom>
            <a:grp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rot="16200000">
              <a:off x="6804469" y="246993"/>
              <a:ext cx="131526" cy="1275277"/>
            </a:xfrm>
            <a:prstGeom prst="rect">
              <a:avLst/>
            </a:prstGeom>
            <a:grp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rot="16200000">
              <a:off x="6804259" y="4920823"/>
              <a:ext cx="131526" cy="1275277"/>
            </a:xfrm>
            <a:prstGeom prst="rect">
              <a:avLst/>
            </a:prstGeom>
            <a:grp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6550112" y="3016449"/>
              <a:ext cx="652945" cy="403236"/>
            </a:xfrm>
            <a:prstGeom prst="rect">
              <a:avLst/>
            </a:prstGeom>
            <a:grp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Crane</a:t>
              </a:r>
              <a:endParaRPr lang="en-US" sz="1100" dirty="0">
                <a:solidFill>
                  <a:schemeClr val="tx1"/>
                </a:solidFill>
              </a:endParaRPr>
            </a:p>
          </p:txBody>
        </p:sp>
      </p:grpSp>
      <p:sp>
        <p:nvSpPr>
          <p:cNvPr id="16" name="Rectangle 15"/>
          <p:cNvSpPr/>
          <p:nvPr/>
        </p:nvSpPr>
        <p:spPr>
          <a:xfrm>
            <a:off x="5847069" y="1498004"/>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2</a:t>
            </a:r>
            <a:endParaRPr lang="en-US" sz="1200" dirty="0">
              <a:solidFill>
                <a:schemeClr val="tx1"/>
              </a:solidFill>
            </a:endParaRPr>
          </a:p>
        </p:txBody>
      </p:sp>
      <p:sp>
        <p:nvSpPr>
          <p:cNvPr id="19" name="TextBox 18"/>
          <p:cNvSpPr txBox="1"/>
          <p:nvPr/>
        </p:nvSpPr>
        <p:spPr>
          <a:xfrm>
            <a:off x="4436372" y="2079120"/>
            <a:ext cx="1121434" cy="338554"/>
          </a:xfrm>
          <a:prstGeom prst="rect">
            <a:avLst/>
          </a:prstGeom>
          <a:noFill/>
        </p:spPr>
        <p:txBody>
          <a:bodyPr wrap="square" rtlCol="0">
            <a:spAutoFit/>
          </a:bodyPr>
          <a:lstStyle/>
          <a:p>
            <a:r>
              <a:rPr lang="en-US" sz="1600" dirty="0">
                <a:solidFill>
                  <a:srgbClr val="FF0000"/>
                </a:solidFill>
              </a:rPr>
              <a:t> 61:15</a:t>
            </a:r>
            <a:endParaRPr lang="en-US" sz="1600" dirty="0">
              <a:solidFill>
                <a:srgbClr val="FF0000"/>
              </a:solidFill>
            </a:endParaRPr>
          </a:p>
        </p:txBody>
      </p:sp>
      <p:sp>
        <p:nvSpPr>
          <p:cNvPr id="20" name="TextBox 19"/>
          <p:cNvSpPr txBox="1"/>
          <p:nvPr/>
        </p:nvSpPr>
        <p:spPr>
          <a:xfrm>
            <a:off x="4445513" y="2286153"/>
            <a:ext cx="1121434" cy="338554"/>
          </a:xfrm>
          <a:prstGeom prst="rect">
            <a:avLst/>
          </a:prstGeom>
          <a:noFill/>
        </p:spPr>
        <p:txBody>
          <a:bodyPr wrap="square" rtlCol="0">
            <a:spAutoFit/>
          </a:bodyPr>
          <a:lstStyle/>
          <a:p>
            <a:r>
              <a:rPr lang="en-US" sz="1600" dirty="0">
                <a:solidFill>
                  <a:srgbClr val="FF0000"/>
                </a:solidFill>
              </a:rPr>
              <a:t> 62:35</a:t>
            </a:r>
            <a:endParaRPr lang="en-US" sz="1600" dirty="0">
              <a:solidFill>
                <a:srgbClr val="FF0000"/>
              </a:solidFill>
            </a:endParaRPr>
          </a:p>
        </p:txBody>
      </p:sp>
      <p:sp>
        <p:nvSpPr>
          <p:cNvPr id="21" name="TextBox 20"/>
          <p:cNvSpPr txBox="1"/>
          <p:nvPr/>
        </p:nvSpPr>
        <p:spPr>
          <a:xfrm>
            <a:off x="6945983" y="2078295"/>
            <a:ext cx="1121434" cy="338554"/>
          </a:xfrm>
          <a:prstGeom prst="rect">
            <a:avLst/>
          </a:prstGeom>
          <a:noFill/>
        </p:spPr>
        <p:txBody>
          <a:bodyPr wrap="square" rtlCol="0">
            <a:spAutoFit/>
          </a:bodyPr>
          <a:lstStyle/>
          <a:p>
            <a:r>
              <a:rPr lang="en-US" sz="1600" dirty="0">
                <a:solidFill>
                  <a:srgbClr val="FF0000"/>
                </a:solidFill>
              </a:rPr>
              <a:t> 62:25</a:t>
            </a:r>
            <a:endParaRPr lang="en-US" sz="1600" dirty="0">
              <a:solidFill>
                <a:srgbClr val="FF0000"/>
              </a:solidFill>
            </a:endParaRPr>
          </a:p>
        </p:txBody>
      </p:sp>
      <p:sp>
        <p:nvSpPr>
          <p:cNvPr id="30" name="TextBox 29"/>
          <p:cNvSpPr txBox="1"/>
          <p:nvPr/>
        </p:nvSpPr>
        <p:spPr>
          <a:xfrm>
            <a:off x="6953234" y="2270087"/>
            <a:ext cx="1121434" cy="338554"/>
          </a:xfrm>
          <a:prstGeom prst="rect">
            <a:avLst/>
          </a:prstGeom>
          <a:noFill/>
        </p:spPr>
        <p:txBody>
          <a:bodyPr wrap="square" rtlCol="0">
            <a:spAutoFit/>
          </a:bodyPr>
          <a:lstStyle/>
          <a:p>
            <a:r>
              <a:rPr lang="en-US" sz="1600" dirty="0">
                <a:solidFill>
                  <a:srgbClr val="FF0000"/>
                </a:solidFill>
              </a:rPr>
              <a:t> 61:47</a:t>
            </a:r>
            <a:endParaRPr lang="en-US" sz="1600" dirty="0">
              <a:solidFill>
                <a:srgbClr val="FF0000"/>
              </a:solidFill>
            </a:endParaRPr>
          </a:p>
        </p:txBody>
      </p:sp>
      <p:sp>
        <p:nvSpPr>
          <p:cNvPr id="31" name="TextBox 30"/>
          <p:cNvSpPr txBox="1"/>
          <p:nvPr/>
        </p:nvSpPr>
        <p:spPr>
          <a:xfrm>
            <a:off x="4436372" y="4492721"/>
            <a:ext cx="1121434" cy="338554"/>
          </a:xfrm>
          <a:prstGeom prst="rect">
            <a:avLst/>
          </a:prstGeom>
          <a:noFill/>
        </p:spPr>
        <p:txBody>
          <a:bodyPr wrap="square" rtlCol="0">
            <a:spAutoFit/>
          </a:bodyPr>
          <a:lstStyle/>
          <a:p>
            <a:r>
              <a:rPr lang="en-US" sz="1600" dirty="0">
                <a:solidFill>
                  <a:srgbClr val="FF0000"/>
                </a:solidFill>
              </a:rPr>
              <a:t> 62:10</a:t>
            </a:r>
            <a:endParaRPr lang="en-US" sz="1600" dirty="0">
              <a:solidFill>
                <a:srgbClr val="FF0000"/>
              </a:solidFill>
            </a:endParaRPr>
          </a:p>
        </p:txBody>
      </p:sp>
      <p:sp>
        <p:nvSpPr>
          <p:cNvPr id="32" name="TextBox 31"/>
          <p:cNvSpPr txBox="1"/>
          <p:nvPr/>
        </p:nvSpPr>
        <p:spPr>
          <a:xfrm>
            <a:off x="4445513" y="4699754"/>
            <a:ext cx="1121434" cy="338554"/>
          </a:xfrm>
          <a:prstGeom prst="rect">
            <a:avLst/>
          </a:prstGeom>
          <a:noFill/>
        </p:spPr>
        <p:txBody>
          <a:bodyPr wrap="square" rtlCol="0">
            <a:spAutoFit/>
          </a:bodyPr>
          <a:lstStyle/>
          <a:p>
            <a:r>
              <a:rPr lang="en-US" sz="1600" dirty="0">
                <a:solidFill>
                  <a:srgbClr val="FF0000"/>
                </a:solidFill>
              </a:rPr>
              <a:t> 62:43</a:t>
            </a:r>
            <a:endParaRPr lang="en-US" sz="1600" dirty="0">
              <a:solidFill>
                <a:srgbClr val="FF0000"/>
              </a:solidFill>
            </a:endParaRPr>
          </a:p>
        </p:txBody>
      </p:sp>
      <p:sp>
        <p:nvSpPr>
          <p:cNvPr id="33" name="TextBox 32"/>
          <p:cNvSpPr txBox="1"/>
          <p:nvPr/>
        </p:nvSpPr>
        <p:spPr>
          <a:xfrm>
            <a:off x="6969872" y="4468311"/>
            <a:ext cx="1121434" cy="338554"/>
          </a:xfrm>
          <a:prstGeom prst="rect">
            <a:avLst/>
          </a:prstGeom>
          <a:noFill/>
        </p:spPr>
        <p:txBody>
          <a:bodyPr wrap="square" rtlCol="0">
            <a:spAutoFit/>
          </a:bodyPr>
          <a:lstStyle/>
          <a:p>
            <a:r>
              <a:rPr lang="en-US" sz="1600" dirty="0">
                <a:solidFill>
                  <a:srgbClr val="FF0000"/>
                </a:solidFill>
              </a:rPr>
              <a:t> 61:46</a:t>
            </a:r>
            <a:endParaRPr lang="en-US" sz="1600" dirty="0">
              <a:solidFill>
                <a:srgbClr val="FF0000"/>
              </a:solidFill>
            </a:endParaRPr>
          </a:p>
        </p:txBody>
      </p:sp>
      <p:sp>
        <p:nvSpPr>
          <p:cNvPr id="34" name="TextBox 33"/>
          <p:cNvSpPr txBox="1"/>
          <p:nvPr/>
        </p:nvSpPr>
        <p:spPr>
          <a:xfrm>
            <a:off x="6979013" y="4675344"/>
            <a:ext cx="1121434" cy="338554"/>
          </a:xfrm>
          <a:prstGeom prst="rect">
            <a:avLst/>
          </a:prstGeom>
          <a:noFill/>
        </p:spPr>
        <p:txBody>
          <a:bodyPr wrap="square" rtlCol="0">
            <a:spAutoFit/>
          </a:bodyPr>
          <a:lstStyle/>
          <a:p>
            <a:r>
              <a:rPr lang="en-US" sz="1600" dirty="0">
                <a:solidFill>
                  <a:srgbClr val="FF0000"/>
                </a:solidFill>
              </a:rPr>
              <a:t> 62:52</a:t>
            </a:r>
            <a:endParaRPr lang="en-US" sz="1600" dirty="0">
              <a:solidFill>
                <a:srgbClr val="FF0000"/>
              </a:solidFill>
            </a:endParaRPr>
          </a:p>
        </p:txBody>
      </p:sp>
      <p:pic>
        <p:nvPicPr>
          <p:cNvPr id="36" name="Graphic 35" descr="Stopwatch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25833" y="4572597"/>
            <a:ext cx="363748" cy="363748"/>
          </a:xfrm>
          <a:prstGeom prst="rect">
            <a:avLst/>
          </a:prstGeom>
        </p:spPr>
      </p:pic>
      <p:pic>
        <p:nvPicPr>
          <p:cNvPr id="37" name="Graphic 36" descr="Stopwatch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25833" y="2157443"/>
            <a:ext cx="363748" cy="363748"/>
          </a:xfrm>
          <a:prstGeom prst="rect">
            <a:avLst/>
          </a:prstGeom>
        </p:spPr>
      </p:pic>
      <p:pic>
        <p:nvPicPr>
          <p:cNvPr id="39" name="Graphic 38" descr="Stopwatch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32642" y="2153123"/>
            <a:ext cx="363748" cy="363748"/>
          </a:xfrm>
          <a:prstGeom prst="rect">
            <a:avLst/>
          </a:prstGeom>
        </p:spPr>
      </p:pic>
      <p:pic>
        <p:nvPicPr>
          <p:cNvPr id="40" name="Graphic 39" descr="Stopwatch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50327" y="4539006"/>
            <a:ext cx="363748" cy="363748"/>
          </a:xfrm>
          <a:prstGeom prst="rect">
            <a:avLst/>
          </a:prstGeom>
        </p:spPr>
      </p:pic>
      <p:sp>
        <p:nvSpPr>
          <p:cNvPr id="17" name="Title 1"/>
          <p:cNvSpPr>
            <a:spLocks noGrp="1"/>
          </p:cNvSpPr>
          <p:nvPr>
            <p:ph type="title"/>
          </p:nvPr>
        </p:nvSpPr>
        <p:spPr>
          <a:xfrm>
            <a:off x="838200" y="-17937"/>
            <a:ext cx="10515600" cy="894332"/>
          </a:xfrm>
        </p:spPr>
        <p:txBody>
          <a:bodyPr/>
          <a:lstStyle/>
          <a:p>
            <a:r>
              <a:rPr lang="en-US" dirty="0"/>
              <a:t>Original Layout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846415" y="786923"/>
            <a:ext cx="10500403" cy="4885178"/>
            <a:chOff x="846415" y="786923"/>
            <a:chExt cx="10500403" cy="4885178"/>
          </a:xfrm>
        </p:grpSpPr>
        <p:sp>
          <p:nvSpPr>
            <p:cNvPr id="4" name="Rectangle 3"/>
            <p:cNvSpPr/>
            <p:nvPr/>
          </p:nvSpPr>
          <p:spPr>
            <a:xfrm>
              <a:off x="892628" y="881154"/>
              <a:ext cx="10406743" cy="46917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182916"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57915" y="5430793"/>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14048"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412362"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615734"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171416"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46415" y="786923"/>
              <a:ext cx="1754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002548"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400862"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604234"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p:cNvSpPr/>
          <p:nvPr/>
        </p:nvSpPr>
        <p:spPr>
          <a:xfrm>
            <a:off x="1242204" y="1165680"/>
            <a:ext cx="9713343" cy="4088921"/>
          </a:xfrm>
          <a:prstGeom prst="rect">
            <a:avLst/>
          </a:prstGeom>
          <a:pattFill prst="ltUpDiag">
            <a:fgClr>
              <a:schemeClr val="accent1"/>
            </a:fgClr>
            <a:bgClr>
              <a:schemeClr val="bg1"/>
            </a:bgClr>
          </a:patt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ysClr val="windowText" lastClr="000000"/>
                </a:solidFill>
              </a:rPr>
              <a:t>                                                                                  Work Area</a:t>
            </a:r>
            <a:endParaRPr lang="en-US" dirty="0">
              <a:solidFill>
                <a:sysClr val="windowText" lastClr="000000"/>
              </a:solidFill>
            </a:endParaRPr>
          </a:p>
        </p:txBody>
      </p:sp>
      <p:sp>
        <p:nvSpPr>
          <p:cNvPr id="29" name="Rectangle 28"/>
          <p:cNvSpPr/>
          <p:nvPr/>
        </p:nvSpPr>
        <p:spPr>
          <a:xfrm>
            <a:off x="3412332" y="4016225"/>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4</a:t>
            </a:r>
            <a:endParaRPr lang="en-US" sz="1200" dirty="0">
              <a:solidFill>
                <a:schemeClr val="tx1"/>
              </a:solidFill>
            </a:endParaRPr>
          </a:p>
        </p:txBody>
      </p:sp>
      <p:sp>
        <p:nvSpPr>
          <p:cNvPr id="2" name="Rectangle 15"/>
          <p:cNvSpPr/>
          <p:nvPr/>
        </p:nvSpPr>
        <p:spPr>
          <a:xfrm>
            <a:off x="4315449" y="1656754"/>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2</a:t>
            </a:r>
            <a:endParaRPr lang="en-US" sz="1200" dirty="0">
              <a:solidFill>
                <a:schemeClr val="tx1"/>
              </a:solidFill>
            </a:endParaRPr>
          </a:p>
        </p:txBody>
      </p:sp>
      <p:sp>
        <p:nvSpPr>
          <p:cNvPr id="5" name="Rectangle 4"/>
          <p:cNvSpPr/>
          <p:nvPr/>
        </p:nvSpPr>
        <p:spPr>
          <a:xfrm>
            <a:off x="6587700" y="1656575"/>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1</a:t>
            </a:r>
            <a:endParaRPr lang="en-US" sz="1200" dirty="0">
              <a:solidFill>
                <a:schemeClr val="tx1"/>
              </a:solidFill>
            </a:endParaRPr>
          </a:p>
        </p:txBody>
      </p:sp>
      <p:sp>
        <p:nvSpPr>
          <p:cNvPr id="28" name="Rectangle 27"/>
          <p:cNvSpPr/>
          <p:nvPr/>
        </p:nvSpPr>
        <p:spPr>
          <a:xfrm>
            <a:off x="2043640" y="2668755"/>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3</a:t>
            </a:r>
            <a:endParaRPr lang="en-US" sz="1200" dirty="0">
              <a:solidFill>
                <a:schemeClr val="tx1"/>
              </a:solidFill>
            </a:endParaRPr>
          </a:p>
        </p:txBody>
      </p:sp>
      <p:sp>
        <p:nvSpPr>
          <p:cNvPr id="26" name="Rectangle 25"/>
          <p:cNvSpPr/>
          <p:nvPr/>
        </p:nvSpPr>
        <p:spPr>
          <a:xfrm>
            <a:off x="8842407" y="1216479"/>
            <a:ext cx="1997319" cy="2191109"/>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WAREHOUSE</a:t>
            </a:r>
            <a:endParaRPr lang="en-US" sz="1200" dirty="0">
              <a:solidFill>
                <a:schemeClr val="tx1"/>
              </a:solidFill>
            </a:endParaRPr>
          </a:p>
        </p:txBody>
      </p:sp>
      <p:sp>
        <p:nvSpPr>
          <p:cNvPr id="3" name="Rectangle 2"/>
          <p:cNvSpPr/>
          <p:nvPr/>
        </p:nvSpPr>
        <p:spPr>
          <a:xfrm rot="16200000">
            <a:off x="5896333" y="3296438"/>
            <a:ext cx="1810932" cy="2191109"/>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WHEEL</a:t>
            </a:r>
            <a:endParaRPr lang="en-US" sz="1200" dirty="0">
              <a:solidFill>
                <a:schemeClr val="tx1"/>
              </a:solidFill>
            </a:endParaRPr>
          </a:p>
          <a:p>
            <a:pPr algn="ctr"/>
            <a:r>
              <a:rPr lang="en-US" sz="1200" dirty="0">
                <a:solidFill>
                  <a:schemeClr val="tx1"/>
                </a:solidFill>
              </a:rPr>
              <a:t>PRESS</a:t>
            </a:r>
            <a:endParaRPr lang="en-US" sz="1200" dirty="0">
              <a:solidFill>
                <a:schemeClr val="tx1"/>
              </a:solidFill>
            </a:endParaRPr>
          </a:p>
        </p:txBody>
      </p:sp>
      <p:grpSp>
        <p:nvGrpSpPr>
          <p:cNvPr id="51" name="Group 50"/>
          <p:cNvGrpSpPr/>
          <p:nvPr/>
        </p:nvGrpSpPr>
        <p:grpSpPr>
          <a:xfrm>
            <a:off x="3992880" y="2859405"/>
            <a:ext cx="6835140" cy="1192530"/>
            <a:chOff x="3339041" y="2948555"/>
            <a:chExt cx="7607365" cy="1192356"/>
          </a:xfrm>
          <a:solidFill>
            <a:srgbClr val="FFFF00">
              <a:alpha val="29804"/>
            </a:srgbClr>
          </a:solidFill>
        </p:grpSpPr>
        <p:sp>
          <p:nvSpPr>
            <p:cNvPr id="42" name="Rectangle 41"/>
            <p:cNvSpPr/>
            <p:nvPr/>
          </p:nvSpPr>
          <p:spPr>
            <a:xfrm>
              <a:off x="3339041" y="2948555"/>
              <a:ext cx="5033005" cy="5995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658001" y="3541375"/>
              <a:ext cx="3288405" cy="5995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p:nvGrpSpPr>
        <p:grpSpPr>
          <a:xfrm>
            <a:off x="7504075" y="807439"/>
            <a:ext cx="1275487" cy="4805356"/>
            <a:chOff x="6232384" y="818869"/>
            <a:chExt cx="1275487" cy="4805356"/>
          </a:xfrm>
        </p:grpSpPr>
        <p:sp>
          <p:nvSpPr>
            <p:cNvPr id="16" name="Rectangle 15"/>
            <p:cNvSpPr/>
            <p:nvPr/>
          </p:nvSpPr>
          <p:spPr>
            <a:xfrm>
              <a:off x="6488087" y="872197"/>
              <a:ext cx="163903" cy="4691743"/>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110621" y="872196"/>
              <a:ext cx="163903" cy="4691743"/>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16200000">
              <a:off x="6804469" y="246993"/>
              <a:ext cx="131526" cy="1275277"/>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rot="16200000">
              <a:off x="6804259" y="4920823"/>
              <a:ext cx="131526" cy="1275277"/>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550112" y="3355539"/>
              <a:ext cx="652945" cy="403236"/>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Crane</a:t>
              </a:r>
              <a:endParaRPr lang="en-US" sz="1100" dirty="0">
                <a:solidFill>
                  <a:schemeClr val="tx1"/>
                </a:solidFill>
              </a:endParaRPr>
            </a:p>
          </p:txBody>
        </p:sp>
      </p:grpSp>
      <p:sp>
        <p:nvSpPr>
          <p:cNvPr id="31" name="Rectangle 27"/>
          <p:cNvSpPr/>
          <p:nvPr/>
        </p:nvSpPr>
        <p:spPr>
          <a:xfrm>
            <a:off x="1314025" y="1216510"/>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recreation zone rest etc</a:t>
            </a:r>
            <a:endParaRPr lang="en-US" sz="1200" dirty="0">
              <a:solidFill>
                <a:schemeClr val="tx1"/>
              </a:solidFill>
            </a:endParaRPr>
          </a:p>
        </p:txBody>
      </p:sp>
      <p:sp>
        <p:nvSpPr>
          <p:cNvPr id="32" name="Text Box 31"/>
          <p:cNvSpPr txBox="1"/>
          <p:nvPr/>
        </p:nvSpPr>
        <p:spPr>
          <a:xfrm>
            <a:off x="1016000" y="218440"/>
            <a:ext cx="5577205" cy="368300"/>
          </a:xfrm>
          <a:prstGeom prst="rect">
            <a:avLst/>
          </a:prstGeom>
          <a:noFill/>
        </p:spPr>
        <p:txBody>
          <a:bodyPr wrap="square" rtlCol="0">
            <a:spAutoFit/>
          </a:bodyPr>
          <a:p>
            <a:r>
              <a:rPr lang="en-US"/>
              <a:t>NEW LAYOUT PROPOSAL</a:t>
            </a:r>
            <a:endParaRPr lang="en-US"/>
          </a:p>
        </p:txBody>
      </p:sp>
      <p:cxnSp>
        <p:nvCxnSpPr>
          <p:cNvPr id="34" name="Straight Arrow Connector 33"/>
          <p:cNvCxnSpPr/>
          <p:nvPr/>
        </p:nvCxnSpPr>
        <p:spPr>
          <a:xfrm flipH="1">
            <a:off x="3573780" y="2596515"/>
            <a:ext cx="698500" cy="42100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H="1">
            <a:off x="5977255" y="2312035"/>
            <a:ext cx="6324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29" idx="3"/>
          </p:cNvCxnSpPr>
          <p:nvPr/>
        </p:nvCxnSpPr>
        <p:spPr>
          <a:xfrm flipV="1">
            <a:off x="5223510" y="4554220"/>
            <a:ext cx="658495" cy="1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748405" y="3747135"/>
            <a:ext cx="482600" cy="55435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1"/>
          </p:cNvCxnSpPr>
          <p:nvPr/>
        </p:nvCxnSpPr>
        <p:spPr>
          <a:xfrm flipH="1">
            <a:off x="8411210" y="2312035"/>
            <a:ext cx="43116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7897495" y="2759710"/>
            <a:ext cx="1491615" cy="1428750"/>
          </a:xfrm>
          <a:prstGeom prst="straightConnector1">
            <a:avLst/>
          </a:prstGeom>
          <a:ln w="28575" cmpd="sng">
            <a:solidFill>
              <a:srgbClr val="FF0000"/>
            </a:solidFill>
            <a:prstDash val="solid"/>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8-27-20:07:41-d2nfa398bjvh7rlj0gig.png"/>
          <p:cNvPicPr>
            <a:picLocks noChangeAspect="1"/>
          </p:cNvPicPr>
          <p:nvPr/>
        </p:nvPicPr>
        <p:blipFill>
          <a:blip r:embed="rId2"/>
          <a:srcRect l="26" r="26"/>
          <a:stretch>
            <a:fillRect/>
          </a:stretch>
        </p:blipFill>
        <p:spPr>
          <a:xfrm>
            <a:off x="635" y="-27305"/>
            <a:ext cx="12207240" cy="6885305"/>
          </a:xfrm>
          <a:prstGeom prst="rect">
            <a:avLst/>
          </a:prstGeom>
        </p:spPr>
      </p:pic>
      <p:sp>
        <p:nvSpPr>
          <p:cNvPr id="4" name="Shape 0"/>
          <p:cNvSpPr/>
          <p:nvPr/>
        </p:nvSpPr>
        <p:spPr>
          <a:xfrm>
            <a:off x="5097145" y="1565275"/>
            <a:ext cx="5905500" cy="673100"/>
          </a:xfrm>
          <a:prstGeom prst="roundRect">
            <a:avLst>
              <a:gd name="adj" fmla="val 50000"/>
            </a:avLst>
          </a:prstGeom>
          <a:solidFill>
            <a:srgbClr val="EAFAFE">
              <a:alpha val="63137"/>
            </a:srgbClr>
          </a:solidFill>
        </p:spPr>
      </p:sp>
      <p:sp>
        <p:nvSpPr>
          <p:cNvPr id="5" name="Shape 1"/>
          <p:cNvSpPr/>
          <p:nvPr/>
        </p:nvSpPr>
        <p:spPr>
          <a:xfrm flipH="1">
            <a:off x="6279515" y="1667510"/>
            <a:ext cx="12700" cy="467995"/>
          </a:xfrm>
          <a:prstGeom prst="line">
            <a:avLst/>
          </a:prstGeom>
          <a:noFill/>
          <a:ln w="19050">
            <a:solidFill>
              <a:srgbClr val="E1ADFD"/>
            </a:solidFill>
            <a:prstDash val="solid"/>
            <a:headEnd type="none"/>
            <a:tailEnd type="none"/>
          </a:ln>
        </p:spPr>
      </p:sp>
      <p:sp>
        <p:nvSpPr>
          <p:cNvPr id="6" name="Shape 2"/>
          <p:cNvSpPr/>
          <p:nvPr/>
        </p:nvSpPr>
        <p:spPr>
          <a:xfrm>
            <a:off x="5097145" y="2672080"/>
            <a:ext cx="5905500" cy="673100"/>
          </a:xfrm>
          <a:prstGeom prst="roundRect">
            <a:avLst>
              <a:gd name="adj" fmla="val 50000"/>
            </a:avLst>
          </a:prstGeom>
          <a:solidFill>
            <a:srgbClr val="EAFAFE">
              <a:alpha val="63137"/>
            </a:srgbClr>
          </a:solidFill>
        </p:spPr>
      </p:sp>
      <p:sp>
        <p:nvSpPr>
          <p:cNvPr id="7" name="Shape 3"/>
          <p:cNvSpPr/>
          <p:nvPr/>
        </p:nvSpPr>
        <p:spPr>
          <a:xfrm flipH="1">
            <a:off x="6279515" y="2774315"/>
            <a:ext cx="12700" cy="467995"/>
          </a:xfrm>
          <a:prstGeom prst="line">
            <a:avLst/>
          </a:prstGeom>
          <a:noFill/>
          <a:ln w="19050">
            <a:solidFill>
              <a:srgbClr val="E1ADFD"/>
            </a:solidFill>
            <a:prstDash val="solid"/>
            <a:headEnd type="none"/>
            <a:tailEnd type="none"/>
          </a:ln>
        </p:spPr>
      </p:sp>
      <p:sp>
        <p:nvSpPr>
          <p:cNvPr id="8" name="Shape 4"/>
          <p:cNvSpPr/>
          <p:nvPr/>
        </p:nvSpPr>
        <p:spPr>
          <a:xfrm>
            <a:off x="5097145" y="3778885"/>
            <a:ext cx="5905500" cy="673100"/>
          </a:xfrm>
          <a:prstGeom prst="roundRect">
            <a:avLst>
              <a:gd name="adj" fmla="val 50000"/>
            </a:avLst>
          </a:prstGeom>
          <a:solidFill>
            <a:srgbClr val="EAFAFE">
              <a:alpha val="63137"/>
            </a:srgbClr>
          </a:solidFill>
        </p:spPr>
      </p:sp>
      <p:sp>
        <p:nvSpPr>
          <p:cNvPr id="9" name="Shape 5"/>
          <p:cNvSpPr/>
          <p:nvPr/>
        </p:nvSpPr>
        <p:spPr>
          <a:xfrm flipH="1">
            <a:off x="6279515" y="3881120"/>
            <a:ext cx="12700" cy="467995"/>
          </a:xfrm>
          <a:prstGeom prst="line">
            <a:avLst/>
          </a:prstGeom>
          <a:noFill/>
          <a:ln w="19050">
            <a:solidFill>
              <a:srgbClr val="E1ADFD"/>
            </a:solidFill>
            <a:prstDash val="solid"/>
            <a:headEnd type="none"/>
            <a:tailEnd type="none"/>
          </a:ln>
        </p:spPr>
      </p:sp>
      <p:sp>
        <p:nvSpPr>
          <p:cNvPr id="10" name="Shape 6"/>
          <p:cNvSpPr/>
          <p:nvPr/>
        </p:nvSpPr>
        <p:spPr>
          <a:xfrm>
            <a:off x="5097145" y="4885690"/>
            <a:ext cx="5905500" cy="673100"/>
          </a:xfrm>
          <a:prstGeom prst="roundRect">
            <a:avLst>
              <a:gd name="adj" fmla="val 50000"/>
            </a:avLst>
          </a:prstGeom>
          <a:solidFill>
            <a:srgbClr val="EAFAFE">
              <a:alpha val="63137"/>
            </a:srgbClr>
          </a:solidFill>
        </p:spPr>
      </p:sp>
      <p:sp>
        <p:nvSpPr>
          <p:cNvPr id="11" name="Shape 7"/>
          <p:cNvSpPr/>
          <p:nvPr/>
        </p:nvSpPr>
        <p:spPr>
          <a:xfrm flipH="1">
            <a:off x="6279515" y="4987925"/>
            <a:ext cx="12700" cy="467995"/>
          </a:xfrm>
          <a:prstGeom prst="line">
            <a:avLst/>
          </a:prstGeom>
          <a:noFill/>
          <a:ln w="19050">
            <a:solidFill>
              <a:srgbClr val="E1ADFD"/>
            </a:solidFill>
            <a:prstDash val="solid"/>
            <a:headEnd type="none"/>
            <a:tailEnd type="none"/>
          </a:ln>
        </p:spPr>
      </p:sp>
      <p:sp>
        <p:nvSpPr>
          <p:cNvPr id="13" name="Text 9"/>
          <p:cNvSpPr/>
          <p:nvPr/>
        </p:nvSpPr>
        <p:spPr>
          <a:xfrm>
            <a:off x="5281295" y="1610360"/>
            <a:ext cx="1041400" cy="574040"/>
          </a:xfrm>
          <a:prstGeom prst="rect">
            <a:avLst/>
          </a:prstGeom>
          <a:noFill/>
        </p:spPr>
        <p:txBody>
          <a:bodyPr wrap="square" lIns="91440" tIns="45720" rIns="91440" bIns="45720" rtlCol="0" anchor="t">
            <a:spAutoFit/>
          </a:bodyPr>
          <a:lstStyle/>
          <a:p>
            <a:pPr algn="ctr">
              <a:lnSpc>
                <a:spcPct val="100000"/>
              </a:lnSpc>
            </a:pPr>
            <a:r>
              <a:rPr lang="en-US" sz="3200" b="1" dirty="0">
                <a:solidFill>
                  <a:srgbClr val="E1ADFD"/>
                </a:solidFill>
                <a:latin typeface="MiSans" pitchFamily="34" charset="0"/>
                <a:ea typeface="MiSans" pitchFamily="34" charset="-122"/>
                <a:cs typeface="MiSans" pitchFamily="34" charset="-120"/>
              </a:rPr>
              <a:t>01</a:t>
            </a:r>
            <a:endParaRPr lang="en-US" sz="1600" dirty="0"/>
          </a:p>
        </p:txBody>
      </p:sp>
      <p:sp>
        <p:nvSpPr>
          <p:cNvPr id="14" name="Text 10"/>
          <p:cNvSpPr/>
          <p:nvPr/>
        </p:nvSpPr>
        <p:spPr>
          <a:xfrm>
            <a:off x="6348095" y="1671955"/>
            <a:ext cx="5547360" cy="459740"/>
          </a:xfrm>
          <a:prstGeom prst="rect">
            <a:avLst/>
          </a:prstGeom>
          <a:noFill/>
        </p:spPr>
        <p:txBody>
          <a:bodyPr wrap="square" lIns="91440" tIns="45720" rIns="91440" bIns="45720" rtlCol="0" anchor="t">
            <a:spAutoFit/>
          </a:bodyPr>
          <a:lstStyle/>
          <a:p>
            <a:pPr>
              <a:lnSpc>
                <a:spcPct val="100000"/>
              </a:lnSpc>
            </a:pPr>
            <a:r>
              <a:rPr lang="en-US" sz="2400" b="1" dirty="0">
                <a:solidFill>
                  <a:srgbClr val="404040"/>
                </a:solidFill>
                <a:latin typeface="MiSans" pitchFamily="34" charset="0"/>
                <a:ea typeface="MiSans" pitchFamily="34" charset="-122"/>
                <a:cs typeface="MiSans" pitchFamily="34" charset="-120"/>
              </a:rPr>
              <a:t>Current Bottleneck Analysis</a:t>
            </a:r>
            <a:endParaRPr lang="en-US" sz="1600" dirty="0"/>
          </a:p>
        </p:txBody>
      </p:sp>
      <p:sp>
        <p:nvSpPr>
          <p:cNvPr id="15" name="Text 11"/>
          <p:cNvSpPr/>
          <p:nvPr/>
        </p:nvSpPr>
        <p:spPr>
          <a:xfrm>
            <a:off x="5281295" y="2717165"/>
            <a:ext cx="1041400" cy="574040"/>
          </a:xfrm>
          <a:prstGeom prst="rect">
            <a:avLst/>
          </a:prstGeom>
          <a:noFill/>
        </p:spPr>
        <p:txBody>
          <a:bodyPr wrap="square" lIns="91440" tIns="45720" rIns="91440" bIns="45720" rtlCol="0" anchor="t">
            <a:spAutoFit/>
          </a:bodyPr>
          <a:lstStyle/>
          <a:p>
            <a:pPr algn="ctr">
              <a:lnSpc>
                <a:spcPct val="100000"/>
              </a:lnSpc>
            </a:pPr>
            <a:r>
              <a:rPr lang="en-US" sz="3200" b="1" dirty="0">
                <a:solidFill>
                  <a:srgbClr val="E1ADFD"/>
                </a:solidFill>
                <a:latin typeface="MiSans" pitchFamily="34" charset="0"/>
                <a:ea typeface="MiSans" pitchFamily="34" charset="-122"/>
                <a:cs typeface="MiSans" pitchFamily="34" charset="-120"/>
              </a:rPr>
              <a:t>02</a:t>
            </a:r>
            <a:endParaRPr lang="en-US" sz="1600" dirty="0"/>
          </a:p>
        </p:txBody>
      </p:sp>
      <p:sp>
        <p:nvSpPr>
          <p:cNvPr id="16" name="Text 12"/>
          <p:cNvSpPr/>
          <p:nvPr/>
        </p:nvSpPr>
        <p:spPr>
          <a:xfrm>
            <a:off x="6348095" y="2778760"/>
            <a:ext cx="5598160" cy="459740"/>
          </a:xfrm>
          <a:prstGeom prst="rect">
            <a:avLst/>
          </a:prstGeom>
          <a:noFill/>
        </p:spPr>
        <p:txBody>
          <a:bodyPr wrap="square" lIns="91440" tIns="45720" rIns="91440" bIns="45720" rtlCol="0" anchor="t">
            <a:spAutoFit/>
          </a:bodyPr>
          <a:lstStyle/>
          <a:p>
            <a:pPr>
              <a:lnSpc>
                <a:spcPct val="100000"/>
              </a:lnSpc>
            </a:pPr>
            <a:r>
              <a:rPr lang="en-US" sz="2400" b="1" dirty="0">
                <a:solidFill>
                  <a:srgbClr val="404040"/>
                </a:solidFill>
                <a:latin typeface="MiSans" pitchFamily="34" charset="0"/>
                <a:ea typeface="MiSans" pitchFamily="34" charset="-122"/>
                <a:cs typeface="MiSans" pitchFamily="34" charset="-120"/>
              </a:rPr>
              <a:t>Optimized Layout Proposal</a:t>
            </a:r>
            <a:endParaRPr lang="en-US" sz="1600" dirty="0"/>
          </a:p>
        </p:txBody>
      </p:sp>
      <p:sp>
        <p:nvSpPr>
          <p:cNvPr id="17" name="Text 13"/>
          <p:cNvSpPr/>
          <p:nvPr/>
        </p:nvSpPr>
        <p:spPr>
          <a:xfrm>
            <a:off x="5281295" y="3823970"/>
            <a:ext cx="1041400" cy="574040"/>
          </a:xfrm>
          <a:prstGeom prst="rect">
            <a:avLst/>
          </a:prstGeom>
          <a:noFill/>
        </p:spPr>
        <p:txBody>
          <a:bodyPr wrap="square" lIns="91440" tIns="45720" rIns="91440" bIns="45720" rtlCol="0" anchor="t">
            <a:spAutoFit/>
          </a:bodyPr>
          <a:lstStyle/>
          <a:p>
            <a:pPr algn="ctr">
              <a:lnSpc>
                <a:spcPct val="100000"/>
              </a:lnSpc>
            </a:pPr>
            <a:r>
              <a:rPr lang="en-US" sz="3200" b="1" dirty="0">
                <a:solidFill>
                  <a:srgbClr val="E1ADFD"/>
                </a:solidFill>
                <a:latin typeface="MiSans" pitchFamily="34" charset="0"/>
                <a:ea typeface="MiSans" pitchFamily="34" charset="-122"/>
                <a:cs typeface="MiSans" pitchFamily="34" charset="-120"/>
              </a:rPr>
              <a:t>03</a:t>
            </a:r>
            <a:endParaRPr lang="en-US" sz="1600" dirty="0"/>
          </a:p>
        </p:txBody>
      </p:sp>
      <p:sp>
        <p:nvSpPr>
          <p:cNvPr id="18" name="Text 14"/>
          <p:cNvSpPr/>
          <p:nvPr/>
        </p:nvSpPr>
        <p:spPr>
          <a:xfrm>
            <a:off x="6348095" y="3885565"/>
            <a:ext cx="5547360" cy="459740"/>
          </a:xfrm>
          <a:prstGeom prst="rect">
            <a:avLst/>
          </a:prstGeom>
          <a:noFill/>
        </p:spPr>
        <p:txBody>
          <a:bodyPr wrap="square" lIns="91440" tIns="45720" rIns="91440" bIns="45720" rtlCol="0" anchor="t">
            <a:spAutoFit/>
          </a:bodyPr>
          <a:lstStyle/>
          <a:p>
            <a:pPr>
              <a:lnSpc>
                <a:spcPct val="100000"/>
              </a:lnSpc>
            </a:pPr>
            <a:r>
              <a:rPr lang="en-US" sz="2400" b="1" dirty="0">
                <a:solidFill>
                  <a:srgbClr val="404040"/>
                </a:solidFill>
                <a:latin typeface="MiSans" pitchFamily="34" charset="0"/>
                <a:ea typeface="MiSans" pitchFamily="34" charset="-122"/>
                <a:cs typeface="MiSans" pitchFamily="34" charset="-120"/>
              </a:rPr>
              <a:t>Justification and Benefits</a:t>
            </a:r>
            <a:endParaRPr lang="en-US" sz="1600" dirty="0"/>
          </a:p>
        </p:txBody>
      </p:sp>
      <p:sp>
        <p:nvSpPr>
          <p:cNvPr id="19" name="Text 15"/>
          <p:cNvSpPr/>
          <p:nvPr/>
        </p:nvSpPr>
        <p:spPr>
          <a:xfrm>
            <a:off x="5281295" y="4930775"/>
            <a:ext cx="1041400" cy="574040"/>
          </a:xfrm>
          <a:prstGeom prst="rect">
            <a:avLst/>
          </a:prstGeom>
          <a:noFill/>
        </p:spPr>
        <p:txBody>
          <a:bodyPr wrap="square" lIns="91440" tIns="45720" rIns="91440" bIns="45720" rtlCol="0" anchor="t">
            <a:spAutoFit/>
          </a:bodyPr>
          <a:lstStyle/>
          <a:p>
            <a:pPr algn="ctr">
              <a:lnSpc>
                <a:spcPct val="100000"/>
              </a:lnSpc>
            </a:pPr>
            <a:r>
              <a:rPr lang="en-US" sz="3200" b="1" dirty="0">
                <a:solidFill>
                  <a:srgbClr val="E1ADFD"/>
                </a:solidFill>
                <a:latin typeface="MiSans" pitchFamily="34" charset="0"/>
                <a:ea typeface="MiSans" pitchFamily="34" charset="-122"/>
                <a:cs typeface="MiSans" pitchFamily="34" charset="-120"/>
              </a:rPr>
              <a:t>04</a:t>
            </a:r>
            <a:endParaRPr lang="en-US" sz="1600" dirty="0"/>
          </a:p>
        </p:txBody>
      </p:sp>
      <p:sp>
        <p:nvSpPr>
          <p:cNvPr id="20" name="Text 16"/>
          <p:cNvSpPr/>
          <p:nvPr/>
        </p:nvSpPr>
        <p:spPr>
          <a:xfrm>
            <a:off x="6348095" y="4992370"/>
            <a:ext cx="5598160" cy="459740"/>
          </a:xfrm>
          <a:prstGeom prst="rect">
            <a:avLst/>
          </a:prstGeom>
          <a:noFill/>
        </p:spPr>
        <p:txBody>
          <a:bodyPr wrap="square" lIns="91440" tIns="45720" rIns="91440" bIns="45720" rtlCol="0" anchor="t">
            <a:spAutoFit/>
          </a:bodyPr>
          <a:lstStyle/>
          <a:p>
            <a:pPr>
              <a:lnSpc>
                <a:spcPct val="100000"/>
              </a:lnSpc>
            </a:pPr>
            <a:r>
              <a:rPr lang="en-US" sz="2400" b="1" dirty="0">
                <a:solidFill>
                  <a:srgbClr val="404040"/>
                </a:solidFill>
                <a:latin typeface="MiSans" pitchFamily="34" charset="0"/>
                <a:ea typeface="MiSans" pitchFamily="34" charset="-122"/>
                <a:cs typeface="MiSans" pitchFamily="34" charset="-120"/>
              </a:rPr>
              <a:t>Implementation Strategy</a:t>
            </a:r>
            <a:endParaRPr lang="en-US" sz="1600" dirty="0"/>
          </a:p>
        </p:txBody>
      </p:sp>
      <p:pic>
        <p:nvPicPr>
          <p:cNvPr id="21" name="Picture 2" descr="Siemens Logo and symbol, meaning, history, PNG, brand"/>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rot="19560000">
            <a:off x="725280" y="806170"/>
            <a:ext cx="4141760" cy="2329740"/>
          </a:xfrm>
          <a:custGeom>
            <a:avLst/>
            <a:gdLst/>
            <a:ahLst/>
            <a:cxnLst/>
            <a:rect l="l" t="t" r="r" b="b"/>
            <a:pathLst>
              <a:path w="4141760" h="4377846">
                <a:moveTo>
                  <a:pt x="0" y="0"/>
                </a:moveTo>
                <a:lnTo>
                  <a:pt x="4141760" y="0"/>
                </a:lnTo>
                <a:lnTo>
                  <a:pt x="4141760" y="4377846"/>
                </a:lnTo>
                <a:lnTo>
                  <a:pt x="0" y="4377846"/>
                </a:lnTo>
                <a:close/>
              </a:path>
            </a:pathLst>
          </a:custGeom>
          <a:noFill/>
          <a:scene3d>
            <a:camera prst="orthographicFront">
              <a:rot lat="0" lon="21000000" rev="0"/>
            </a:camera>
            <a:lightRig rig="threePt" dir="t"/>
          </a:scene3d>
          <a:extLst>
            <a:ext uri="{909E8E84-426E-40DD-AFC4-6F175D3DCCD1}">
              <a14:hiddenFill xmlns:a14="http://schemas.microsoft.com/office/drawing/2010/main">
                <a:solidFill>
                  <a:srgbClr val="FFFFFF"/>
                </a:solidFill>
              </a14:hiddenFill>
            </a:ext>
          </a:extLst>
        </p:spPr>
      </p:pic>
      <p:sp>
        <p:nvSpPr>
          <p:cNvPr id="12" name="Text 8"/>
          <p:cNvSpPr/>
          <p:nvPr/>
        </p:nvSpPr>
        <p:spPr>
          <a:xfrm>
            <a:off x="4947285" y="436245"/>
            <a:ext cx="4876165" cy="1272540"/>
          </a:xfrm>
          <a:prstGeom prst="rect">
            <a:avLst/>
          </a:prstGeom>
          <a:noFill/>
        </p:spPr>
        <p:txBody>
          <a:bodyPr wrap="square" lIns="0" tIns="0" rIns="0" bIns="0" rtlCol="0" anchor="ctr"/>
          <a:lstStyle/>
          <a:p>
            <a:pPr lvl="3" algn="ctr">
              <a:lnSpc>
                <a:spcPct val="100000"/>
              </a:lnSpc>
            </a:pPr>
            <a:r>
              <a:rPr lang="en-US" sz="4800" dirty="0">
                <a:solidFill>
                  <a:srgbClr val="000000"/>
                </a:solidFill>
                <a:latin typeface="MiSans" pitchFamily="34" charset="0"/>
                <a:ea typeface="MiSans" pitchFamily="34" charset="-122"/>
                <a:cs typeface="MiSans" pitchFamily="34" charset="-120"/>
              </a:rPr>
              <a:t>CONTENTS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8-27-20:07:40-d2nfa318bjvh7rlj0gf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3340"/>
          </a:xfrm>
          <a:prstGeom prst="rect">
            <a:avLst/>
          </a:prstGeom>
          <a:noFill/>
        </p:spPr>
        <p:txBody>
          <a:bodyPr wrap="square" lIns="91440" tIns="45720" rIns="91440" bIns="45720" rtlCol="0" anchor="t">
            <a:spAutoFit/>
          </a:bodyPr>
          <a:lstStyle/>
          <a:p>
            <a:pPr>
              <a:lnSpc>
                <a:spcPct val="100000"/>
              </a:lnSpc>
            </a:pPr>
            <a:r>
              <a:rPr lang="en-US" sz="8000" b="1" dirty="0">
                <a:solidFill>
                  <a:srgbClr val="000000"/>
                </a:solidFill>
                <a:latin typeface="MiSans" pitchFamily="34" charset="0"/>
                <a:ea typeface="MiSans" pitchFamily="34" charset="-122"/>
                <a:cs typeface="MiSans" pitchFamily="34" charset="-120"/>
              </a:rPr>
              <a:t>01</a:t>
            </a:r>
            <a:endParaRPr lang="en-US" sz="1600" dirty="0"/>
          </a:p>
        </p:txBody>
      </p:sp>
      <p:sp>
        <p:nvSpPr>
          <p:cNvPr id="5" name="Text 1"/>
          <p:cNvSpPr/>
          <p:nvPr/>
        </p:nvSpPr>
        <p:spPr>
          <a:xfrm>
            <a:off x="649605" y="2985135"/>
            <a:ext cx="8241665" cy="828040"/>
          </a:xfrm>
          <a:prstGeom prst="rect">
            <a:avLst/>
          </a:prstGeom>
          <a:noFill/>
        </p:spPr>
        <p:txBody>
          <a:bodyPr wrap="square" lIns="91440" tIns="45720" rIns="91440" bIns="45720" rtlCol="0" anchor="t">
            <a:spAutoFit/>
          </a:bodyPr>
          <a:lstStyle/>
          <a:p>
            <a:pPr>
              <a:lnSpc>
                <a:spcPct val="100000"/>
              </a:lnSpc>
            </a:pPr>
            <a:r>
              <a:rPr lang="en-US" sz="4800" b="1" dirty="0">
                <a:solidFill>
                  <a:srgbClr val="404040"/>
                </a:solidFill>
                <a:latin typeface="MiSans" pitchFamily="34" charset="0"/>
                <a:ea typeface="MiSans" pitchFamily="34" charset="-122"/>
                <a:cs typeface="MiSans" pitchFamily="34" charset="-120"/>
              </a:rPr>
              <a:t>Current Bottleneck Analysis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Wheel Press: Critical Bottleneck Identified</a:t>
            </a:r>
            <a:endParaRPr lang="en-US" sz="1600" dirty="0"/>
          </a:p>
        </p:txBody>
      </p:sp>
      <p:sp>
        <p:nvSpPr>
          <p:cNvPr id="4" name="Shape 1"/>
          <p:cNvSpPr/>
          <p:nvPr/>
        </p:nvSpPr>
        <p:spPr>
          <a:xfrm>
            <a:off x="-6985" y="1494790"/>
            <a:ext cx="12206605" cy="1126490"/>
          </a:xfrm>
          <a:prstGeom prst="roundRect">
            <a:avLst>
              <a:gd name="adj" fmla="val 0"/>
            </a:avLst>
          </a:prstGeom>
          <a:solidFill>
            <a:srgbClr val="E6E6FD"/>
          </a:solidFill>
        </p:spPr>
      </p:sp>
      <p:sp>
        <p:nvSpPr>
          <p:cNvPr id="5" name="Shape 2"/>
          <p:cNvSpPr/>
          <p:nvPr/>
        </p:nvSpPr>
        <p:spPr>
          <a:xfrm>
            <a:off x="1092200" y="1925320"/>
            <a:ext cx="4359910" cy="4023360"/>
          </a:xfrm>
          <a:prstGeom prst="roundRect">
            <a:avLst>
              <a:gd name="adj" fmla="val 3066"/>
            </a:avLst>
          </a:prstGeom>
          <a:solidFill>
            <a:srgbClr val="FFFFFF"/>
          </a:solidFill>
          <a:ln w="19050">
            <a:solidFill>
              <a:srgbClr val="E1ADFD"/>
            </a:solidFill>
            <a:prstDash val="solid"/>
          </a:ln>
        </p:spPr>
      </p:sp>
      <p:sp>
        <p:nvSpPr>
          <p:cNvPr id="6" name="Shape 3"/>
          <p:cNvSpPr/>
          <p:nvPr/>
        </p:nvSpPr>
        <p:spPr>
          <a:xfrm>
            <a:off x="1307465" y="3101340"/>
            <a:ext cx="3893185" cy="0"/>
          </a:xfrm>
          <a:prstGeom prst="line">
            <a:avLst/>
          </a:prstGeom>
          <a:noFill/>
          <a:ln w="19050">
            <a:solidFill>
              <a:srgbClr val="E1ADFD"/>
            </a:solidFill>
            <a:prstDash val="solid"/>
            <a:headEnd type="none"/>
            <a:tailEnd type="none"/>
          </a:ln>
        </p:spPr>
      </p:sp>
      <p:sp>
        <p:nvSpPr>
          <p:cNvPr id="7" name="Shape 4"/>
          <p:cNvSpPr/>
          <p:nvPr/>
        </p:nvSpPr>
        <p:spPr>
          <a:xfrm>
            <a:off x="5913120" y="1925320"/>
            <a:ext cx="4359910" cy="4023360"/>
          </a:xfrm>
          <a:prstGeom prst="roundRect">
            <a:avLst>
              <a:gd name="adj" fmla="val 3066"/>
            </a:avLst>
          </a:prstGeom>
          <a:solidFill>
            <a:srgbClr val="FFFFFF"/>
          </a:solidFill>
          <a:ln w="19050">
            <a:solidFill>
              <a:srgbClr val="E1ADFD"/>
            </a:solidFill>
            <a:prstDash val="solid"/>
          </a:ln>
        </p:spPr>
      </p:sp>
      <p:sp>
        <p:nvSpPr>
          <p:cNvPr id="8" name="Shape 5"/>
          <p:cNvSpPr/>
          <p:nvPr/>
        </p:nvSpPr>
        <p:spPr>
          <a:xfrm>
            <a:off x="6128385" y="3101340"/>
            <a:ext cx="3893185" cy="0"/>
          </a:xfrm>
          <a:prstGeom prst="line">
            <a:avLst/>
          </a:prstGeom>
          <a:noFill/>
          <a:ln w="19050">
            <a:solidFill>
              <a:srgbClr val="E1ADFD"/>
            </a:solidFill>
            <a:prstDash val="solid"/>
            <a:headEnd type="none"/>
            <a:tailEnd type="none"/>
          </a:ln>
        </p:spPr>
      </p:sp>
      <p:sp>
        <p:nvSpPr>
          <p:cNvPr id="9" name="Text 6"/>
          <p:cNvSpPr/>
          <p:nvPr/>
        </p:nvSpPr>
        <p:spPr>
          <a:xfrm>
            <a:off x="1326515" y="2209800"/>
            <a:ext cx="3891915" cy="866140"/>
          </a:xfrm>
          <a:prstGeom prst="rect">
            <a:avLst/>
          </a:prstGeom>
          <a:noFill/>
        </p:spPr>
        <p:txBody>
          <a:bodyPr wrap="square" lIns="91440" tIns="45720" rIns="91440" bIns="45720" rtlCol="0" anchor="t">
            <a:spAutoFit/>
          </a:bodyPr>
          <a:lstStyle/>
          <a:p>
            <a:pPr algn="l">
              <a:lnSpc>
                <a:spcPct val="100000"/>
              </a:lnSpc>
            </a:pPr>
            <a:r>
              <a:rPr lang="en-US" sz="2400" b="1" dirty="0">
                <a:solidFill>
                  <a:srgbClr val="000000"/>
                </a:solidFill>
                <a:latin typeface="MiSans" pitchFamily="34" charset="0"/>
                <a:ea typeface="MiSans" pitchFamily="34" charset="-122"/>
                <a:cs typeface="MiSans" pitchFamily="34" charset="-120"/>
              </a:rPr>
              <a:t>Crane-Dependent Material Handling</a:t>
            </a:r>
            <a:endParaRPr lang="en-US" sz="1600" dirty="0"/>
          </a:p>
        </p:txBody>
      </p:sp>
      <p:sp>
        <p:nvSpPr>
          <p:cNvPr id="10" name="Text 7"/>
          <p:cNvSpPr/>
          <p:nvPr/>
        </p:nvSpPr>
        <p:spPr>
          <a:xfrm>
            <a:off x="1307465" y="3155315"/>
            <a:ext cx="3910965" cy="2702659"/>
          </a:xfrm>
          <a:prstGeom prst="rect">
            <a:avLst/>
          </a:prstGeom>
          <a:noFill/>
        </p:spPr>
        <p:txBody>
          <a:bodyPr wrap="square" lIns="91440" tIns="45720" rIns="91440" bIns="45720" rtlCol="0" anchor="t"/>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 wheel press section operates as the primary system constraint due to its heavy reliance on overhead crane operations for all material handling tasks.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Every component entering or exiting this station requires crane intervention, creating a single point of failure that propagates delays throughout the entire assembly line.</a:t>
            </a:r>
            <a:endParaRPr lang="en-US" sz="1200" dirty="0">
              <a:solidFill>
                <a:srgbClr val="000000"/>
              </a:solidFill>
              <a:latin typeface="MiSans" pitchFamily="34" charset="0"/>
              <a:ea typeface="MiSans" pitchFamily="34" charset="-122"/>
              <a:cs typeface="MiSans" pitchFamily="34" charset="-120"/>
            </a:endParaRPr>
          </a:p>
        </p:txBody>
      </p:sp>
      <p:sp>
        <p:nvSpPr>
          <p:cNvPr id="11" name="Text 8"/>
          <p:cNvSpPr/>
          <p:nvPr/>
        </p:nvSpPr>
        <p:spPr>
          <a:xfrm>
            <a:off x="6147435" y="2209800"/>
            <a:ext cx="3891915" cy="866140"/>
          </a:xfrm>
          <a:prstGeom prst="rect">
            <a:avLst/>
          </a:prstGeom>
          <a:noFill/>
        </p:spPr>
        <p:txBody>
          <a:bodyPr wrap="square" lIns="91440" tIns="45720" rIns="91440" bIns="45720" rtlCol="0" anchor="t">
            <a:spAutoFit/>
          </a:bodyPr>
          <a:lstStyle/>
          <a:p>
            <a:pPr algn="l">
              <a:lnSpc>
                <a:spcPct val="100000"/>
              </a:lnSpc>
            </a:pPr>
            <a:r>
              <a:rPr lang="en-US" sz="2400" b="1" dirty="0">
                <a:solidFill>
                  <a:srgbClr val="000000"/>
                </a:solidFill>
                <a:latin typeface="MiSans" pitchFamily="34" charset="0"/>
                <a:ea typeface="MiSans" pitchFamily="34" charset="-122"/>
                <a:cs typeface="MiSans" pitchFamily="34" charset="-120"/>
              </a:rPr>
              <a:t>Return Transport Bottleneck</a:t>
            </a:r>
            <a:endParaRPr lang="en-US" sz="1600" dirty="0"/>
          </a:p>
        </p:txBody>
      </p:sp>
      <p:sp>
        <p:nvSpPr>
          <p:cNvPr id="12" name="Text 9"/>
          <p:cNvSpPr/>
          <p:nvPr/>
        </p:nvSpPr>
        <p:spPr>
          <a:xfrm>
            <a:off x="6128385" y="3155315"/>
            <a:ext cx="3893185" cy="2416810"/>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After pressing operations are completed, components must be transported back to the warehouse via crane, which creates significant delays.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This return journey doubles the crane utilization requirement per cycle and establishes a dependency loop that severely limits throughput capacity at this critical workstation.</a:t>
            </a:r>
            <a:endParaRPr lang="en-US" sz="1200"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Four Key Factors Driving Inefficiency</a:t>
            </a:r>
            <a:endParaRPr lang="en-US" sz="1600" dirty="0"/>
          </a:p>
        </p:txBody>
      </p:sp>
      <p:sp>
        <p:nvSpPr>
          <p:cNvPr id="4" name="Shape 1"/>
          <p:cNvSpPr/>
          <p:nvPr/>
        </p:nvSpPr>
        <p:spPr>
          <a:xfrm rot="21360000">
            <a:off x="987425" y="1570990"/>
            <a:ext cx="4177665" cy="1917065"/>
          </a:xfrm>
          <a:prstGeom prst="roundRect">
            <a:avLst>
              <a:gd name="adj" fmla="val 16667"/>
            </a:avLst>
          </a:prstGeom>
          <a:solidFill>
            <a:srgbClr val="E6E6FD"/>
          </a:solidFill>
        </p:spPr>
      </p:sp>
      <p:sp>
        <p:nvSpPr>
          <p:cNvPr id="5" name="Shape 2"/>
          <p:cNvSpPr/>
          <p:nvPr/>
        </p:nvSpPr>
        <p:spPr>
          <a:xfrm>
            <a:off x="1085850" y="1597660"/>
            <a:ext cx="4714240" cy="2163445"/>
          </a:xfrm>
          <a:prstGeom prst="roundRect">
            <a:avLst>
              <a:gd name="adj" fmla="val 10334"/>
            </a:avLst>
          </a:prstGeom>
          <a:solidFill>
            <a:srgbClr val="FFFFFF"/>
          </a:solidFill>
          <a:ln w="25400">
            <a:solidFill>
              <a:srgbClr val="E6E6FD"/>
            </a:solidFill>
            <a:prstDash val="solid"/>
          </a:ln>
        </p:spPr>
      </p:sp>
      <p:sp>
        <p:nvSpPr>
          <p:cNvPr id="6" name="Shape 3"/>
          <p:cNvSpPr/>
          <p:nvPr/>
        </p:nvSpPr>
        <p:spPr>
          <a:xfrm rot="21360000">
            <a:off x="6570345" y="1570990"/>
            <a:ext cx="4177665" cy="1917065"/>
          </a:xfrm>
          <a:prstGeom prst="roundRect">
            <a:avLst>
              <a:gd name="adj" fmla="val 16667"/>
            </a:avLst>
          </a:prstGeom>
          <a:solidFill>
            <a:srgbClr val="E6E6FD"/>
          </a:solidFill>
        </p:spPr>
      </p:sp>
      <p:sp>
        <p:nvSpPr>
          <p:cNvPr id="7" name="Shape 4"/>
          <p:cNvSpPr/>
          <p:nvPr/>
        </p:nvSpPr>
        <p:spPr>
          <a:xfrm>
            <a:off x="6668770" y="1597660"/>
            <a:ext cx="4714240" cy="2163445"/>
          </a:xfrm>
          <a:prstGeom prst="roundRect">
            <a:avLst>
              <a:gd name="adj" fmla="val 10334"/>
            </a:avLst>
          </a:prstGeom>
          <a:solidFill>
            <a:srgbClr val="FFFFFF"/>
          </a:solidFill>
          <a:ln w="25400">
            <a:solidFill>
              <a:srgbClr val="E6E6FD"/>
            </a:solidFill>
            <a:prstDash val="solid"/>
          </a:ln>
        </p:spPr>
      </p:sp>
      <p:sp>
        <p:nvSpPr>
          <p:cNvPr id="8" name="Shape 5"/>
          <p:cNvSpPr/>
          <p:nvPr/>
        </p:nvSpPr>
        <p:spPr>
          <a:xfrm rot="21360000">
            <a:off x="987425" y="4090670"/>
            <a:ext cx="4177665" cy="1917065"/>
          </a:xfrm>
          <a:prstGeom prst="roundRect">
            <a:avLst>
              <a:gd name="adj" fmla="val 16667"/>
            </a:avLst>
          </a:prstGeom>
          <a:solidFill>
            <a:srgbClr val="E6E6FD"/>
          </a:solidFill>
        </p:spPr>
      </p:sp>
      <p:sp>
        <p:nvSpPr>
          <p:cNvPr id="9" name="Shape 6"/>
          <p:cNvSpPr/>
          <p:nvPr/>
        </p:nvSpPr>
        <p:spPr>
          <a:xfrm>
            <a:off x="1085850" y="4117340"/>
            <a:ext cx="4714240" cy="2163445"/>
          </a:xfrm>
          <a:prstGeom prst="roundRect">
            <a:avLst>
              <a:gd name="adj" fmla="val 10334"/>
            </a:avLst>
          </a:prstGeom>
          <a:solidFill>
            <a:srgbClr val="FFFFFF"/>
          </a:solidFill>
          <a:ln w="25400">
            <a:solidFill>
              <a:srgbClr val="E6E6FD"/>
            </a:solidFill>
            <a:prstDash val="solid"/>
          </a:ln>
        </p:spPr>
      </p:sp>
      <p:sp>
        <p:nvSpPr>
          <p:cNvPr id="10" name="Shape 7"/>
          <p:cNvSpPr/>
          <p:nvPr/>
        </p:nvSpPr>
        <p:spPr>
          <a:xfrm rot="21360000">
            <a:off x="6570345" y="4090670"/>
            <a:ext cx="4177665" cy="1917065"/>
          </a:xfrm>
          <a:prstGeom prst="roundRect">
            <a:avLst>
              <a:gd name="adj" fmla="val 16667"/>
            </a:avLst>
          </a:prstGeom>
          <a:solidFill>
            <a:srgbClr val="E6E6FD"/>
          </a:solidFill>
        </p:spPr>
      </p:sp>
      <p:sp>
        <p:nvSpPr>
          <p:cNvPr id="11" name="Shape 8"/>
          <p:cNvSpPr/>
          <p:nvPr/>
        </p:nvSpPr>
        <p:spPr>
          <a:xfrm>
            <a:off x="6668770" y="4117340"/>
            <a:ext cx="4714240" cy="2163445"/>
          </a:xfrm>
          <a:prstGeom prst="roundRect">
            <a:avLst>
              <a:gd name="adj" fmla="val 10334"/>
            </a:avLst>
          </a:prstGeom>
          <a:solidFill>
            <a:srgbClr val="FFFFFF"/>
          </a:solidFill>
          <a:ln w="25400">
            <a:solidFill>
              <a:srgbClr val="E6E6FD"/>
            </a:solidFill>
            <a:prstDash val="solid"/>
          </a:ln>
        </p:spPr>
      </p:sp>
      <p:sp>
        <p:nvSpPr>
          <p:cNvPr id="12" name="Text 9"/>
          <p:cNvSpPr/>
          <p:nvPr/>
        </p:nvSpPr>
        <p:spPr>
          <a:xfrm>
            <a:off x="1344930" y="1811655"/>
            <a:ext cx="431800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Excessive Distance</a:t>
            </a:r>
            <a:endParaRPr lang="en-US" sz="1600" dirty="0"/>
          </a:p>
        </p:txBody>
      </p:sp>
      <p:sp>
        <p:nvSpPr>
          <p:cNvPr id="13" name="Text 10"/>
          <p:cNvSpPr/>
          <p:nvPr/>
        </p:nvSpPr>
        <p:spPr>
          <a:xfrm>
            <a:off x="1325880" y="2209165"/>
            <a:ext cx="4394200" cy="2033349"/>
          </a:xfrm>
          <a:prstGeom prst="rect">
            <a:avLst/>
          </a:prstGeom>
          <a:noFill/>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The warehouse and wheel press section are positioned far apart in the current layout, which dramatically increases travel time per crane cycle. This spatial separation forces cranes to traverse long distances repeatedly, consuming valuable time that could be allocated to productive operations.</a:t>
            </a:r>
            <a:endParaRPr lang="en-US" sz="1600" dirty="0"/>
          </a:p>
        </p:txBody>
      </p:sp>
      <p:sp>
        <p:nvSpPr>
          <p:cNvPr id="14" name="Text 11"/>
          <p:cNvSpPr/>
          <p:nvPr/>
        </p:nvSpPr>
        <p:spPr>
          <a:xfrm>
            <a:off x="1344930" y="4331335"/>
            <a:ext cx="431800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Inefficient Crane Utilization</a:t>
            </a:r>
            <a:endParaRPr lang="en-US" sz="1600" dirty="0"/>
          </a:p>
        </p:txBody>
      </p:sp>
      <p:sp>
        <p:nvSpPr>
          <p:cNvPr id="15" name="Text 12"/>
          <p:cNvSpPr/>
          <p:nvPr/>
        </p:nvSpPr>
        <p:spPr>
          <a:xfrm>
            <a:off x="1325880" y="4728845"/>
            <a:ext cx="4394200" cy="1755934"/>
          </a:xfrm>
          <a:prstGeom prst="rect">
            <a:avLst/>
          </a:prstGeom>
          <a:noFill/>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Cranes require frequent repositioning and precise alignment over extended distances, resulting in discontinuous movement patterns. This start-stop operation leads to substantial idle time, queuing of materials, and reduced overall equipment effectiveness across the material handling system.</a:t>
            </a:r>
            <a:endParaRPr lang="en-US" sz="1600" dirty="0"/>
          </a:p>
        </p:txBody>
      </p:sp>
      <p:sp>
        <p:nvSpPr>
          <p:cNvPr id="16" name="Text 13"/>
          <p:cNvSpPr/>
          <p:nvPr/>
        </p:nvSpPr>
        <p:spPr>
          <a:xfrm>
            <a:off x="6927850" y="1811655"/>
            <a:ext cx="431800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Interrupted Workflow</a:t>
            </a:r>
            <a:endParaRPr lang="en-US" sz="1600" dirty="0"/>
          </a:p>
        </p:txBody>
      </p:sp>
      <p:sp>
        <p:nvSpPr>
          <p:cNvPr id="17" name="Text 14"/>
          <p:cNvSpPr/>
          <p:nvPr/>
        </p:nvSpPr>
        <p:spPr>
          <a:xfrm>
            <a:off x="6908800" y="2209165"/>
            <a:ext cx="4394200" cy="1755934"/>
          </a:xfrm>
          <a:prstGeom prst="rect">
            <a:avLst/>
          </a:prstGeom>
          <a:noFill/>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Material flow follows a non-linear and fragmented path through the assembly area, causing waiting time to accumulate specifically at the wheel press stage. This fragmented flow pattern prevents smooth production rhythm and creates unpredictable cycle time variations.</a:t>
            </a:r>
            <a:endParaRPr lang="en-US" sz="1600" dirty="0"/>
          </a:p>
        </p:txBody>
      </p:sp>
      <p:sp>
        <p:nvSpPr>
          <p:cNvPr id="18" name="Text 15"/>
          <p:cNvSpPr/>
          <p:nvPr/>
        </p:nvSpPr>
        <p:spPr>
          <a:xfrm>
            <a:off x="6927850" y="4331335"/>
            <a:ext cx="431800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Poor Space Utilization</a:t>
            </a:r>
            <a:endParaRPr lang="en-US" sz="1600" dirty="0"/>
          </a:p>
        </p:txBody>
      </p:sp>
      <p:sp>
        <p:nvSpPr>
          <p:cNvPr id="19" name="Text 16"/>
          <p:cNvSpPr/>
          <p:nvPr/>
        </p:nvSpPr>
        <p:spPr>
          <a:xfrm>
            <a:off x="6908800" y="4728845"/>
            <a:ext cx="4394200" cy="1755934"/>
          </a:xfrm>
          <a:prstGeom prst="rect">
            <a:avLst/>
          </a:prstGeom>
          <a:noFill/>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Large areas between key workstations remain unused or poorly arranged, resulting in wasted motion and operational inefficiency. This suboptimal spatial configuration increases worker travel distances and reduces overall operational visibility and coordination effectiveness.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8-27-20:07:40-d2nfa318bjvh7rlj0gf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3340"/>
          </a:xfrm>
          <a:prstGeom prst="rect">
            <a:avLst/>
          </a:prstGeom>
          <a:noFill/>
        </p:spPr>
        <p:txBody>
          <a:bodyPr wrap="square" lIns="91440" tIns="45720" rIns="91440" bIns="45720" rtlCol="0" anchor="t">
            <a:spAutoFit/>
          </a:bodyPr>
          <a:lstStyle/>
          <a:p>
            <a:pPr>
              <a:lnSpc>
                <a:spcPct val="100000"/>
              </a:lnSpc>
            </a:pPr>
            <a:r>
              <a:rPr lang="en-US" sz="8000" b="1" dirty="0">
                <a:solidFill>
                  <a:srgbClr val="000000"/>
                </a:solidFill>
                <a:latin typeface="MiSans" pitchFamily="34" charset="0"/>
                <a:ea typeface="MiSans" pitchFamily="34" charset="-122"/>
                <a:cs typeface="MiSans" pitchFamily="34" charset="-120"/>
              </a:rPr>
              <a:t>02</a:t>
            </a:r>
            <a:endParaRPr lang="en-US" sz="1600" dirty="0"/>
          </a:p>
        </p:txBody>
      </p:sp>
      <p:sp>
        <p:nvSpPr>
          <p:cNvPr id="5" name="Text 1"/>
          <p:cNvSpPr/>
          <p:nvPr/>
        </p:nvSpPr>
        <p:spPr>
          <a:xfrm>
            <a:off x="649605" y="2985135"/>
            <a:ext cx="8241665" cy="828040"/>
          </a:xfrm>
          <a:prstGeom prst="rect">
            <a:avLst/>
          </a:prstGeom>
          <a:noFill/>
        </p:spPr>
        <p:txBody>
          <a:bodyPr wrap="square" lIns="91440" tIns="45720" rIns="91440" bIns="45720" rtlCol="0" anchor="t">
            <a:spAutoFit/>
          </a:bodyPr>
          <a:lstStyle/>
          <a:p>
            <a:pPr>
              <a:lnSpc>
                <a:spcPct val="100000"/>
              </a:lnSpc>
            </a:pPr>
            <a:r>
              <a:rPr lang="en-US" sz="4800" b="1" dirty="0">
                <a:solidFill>
                  <a:srgbClr val="404040"/>
                </a:solidFill>
                <a:latin typeface="MiSans" pitchFamily="34" charset="0"/>
                <a:ea typeface="MiSans" pitchFamily="34" charset="-122"/>
                <a:cs typeface="MiSans" pitchFamily="34" charset="-120"/>
              </a:rPr>
              <a:t>Optimized Layout Proposal</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846415" y="786923"/>
            <a:ext cx="10500403" cy="4885178"/>
            <a:chOff x="846415" y="786923"/>
            <a:chExt cx="10500403" cy="4885178"/>
          </a:xfrm>
        </p:grpSpPr>
        <p:sp>
          <p:nvSpPr>
            <p:cNvPr id="4" name="Rectangle 3"/>
            <p:cNvSpPr/>
            <p:nvPr/>
          </p:nvSpPr>
          <p:spPr>
            <a:xfrm>
              <a:off x="892628" y="881154"/>
              <a:ext cx="10406743" cy="46917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182916"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57915" y="5430793"/>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14048"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412362"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615734" y="543918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171416"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46415" y="786923"/>
              <a:ext cx="1754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002548"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400862"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604234" y="795318"/>
              <a:ext cx="163902" cy="232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p:cNvSpPr/>
          <p:nvPr/>
        </p:nvSpPr>
        <p:spPr>
          <a:xfrm>
            <a:off x="1242204" y="1165680"/>
            <a:ext cx="9713343" cy="4088921"/>
          </a:xfrm>
          <a:prstGeom prst="rect">
            <a:avLst/>
          </a:prstGeom>
          <a:pattFill prst="ltUpDiag">
            <a:fgClr>
              <a:schemeClr val="accent1"/>
            </a:fgClr>
            <a:bgClr>
              <a:schemeClr val="bg1"/>
            </a:bgClr>
          </a:patt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ysClr val="windowText" lastClr="000000"/>
                </a:solidFill>
              </a:rPr>
              <a:t>                                                                                  Work Area</a:t>
            </a:r>
            <a:endParaRPr lang="en-US" dirty="0">
              <a:solidFill>
                <a:sysClr val="windowText" lastClr="000000"/>
              </a:solidFill>
            </a:endParaRPr>
          </a:p>
        </p:txBody>
      </p:sp>
      <p:sp>
        <p:nvSpPr>
          <p:cNvPr id="29" name="Rectangle 28"/>
          <p:cNvSpPr/>
          <p:nvPr/>
        </p:nvSpPr>
        <p:spPr>
          <a:xfrm>
            <a:off x="3412332" y="4016225"/>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4</a:t>
            </a:r>
            <a:endParaRPr lang="en-US" sz="1200" dirty="0">
              <a:solidFill>
                <a:schemeClr val="tx1"/>
              </a:solidFill>
            </a:endParaRPr>
          </a:p>
        </p:txBody>
      </p:sp>
      <p:sp>
        <p:nvSpPr>
          <p:cNvPr id="2" name="Rectangle 15"/>
          <p:cNvSpPr/>
          <p:nvPr/>
        </p:nvSpPr>
        <p:spPr>
          <a:xfrm>
            <a:off x="4315449" y="1656754"/>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2</a:t>
            </a:r>
            <a:endParaRPr lang="en-US" sz="1200" dirty="0">
              <a:solidFill>
                <a:schemeClr val="tx1"/>
              </a:solidFill>
            </a:endParaRPr>
          </a:p>
        </p:txBody>
      </p:sp>
      <p:sp>
        <p:nvSpPr>
          <p:cNvPr id="5" name="Rectangle 4"/>
          <p:cNvSpPr/>
          <p:nvPr/>
        </p:nvSpPr>
        <p:spPr>
          <a:xfrm>
            <a:off x="6587700" y="1656575"/>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1</a:t>
            </a:r>
            <a:endParaRPr lang="en-US" sz="1200" dirty="0">
              <a:solidFill>
                <a:schemeClr val="tx1"/>
              </a:solidFill>
            </a:endParaRPr>
          </a:p>
        </p:txBody>
      </p:sp>
      <p:sp>
        <p:nvSpPr>
          <p:cNvPr id="28" name="Rectangle 27"/>
          <p:cNvSpPr/>
          <p:nvPr/>
        </p:nvSpPr>
        <p:spPr>
          <a:xfrm>
            <a:off x="2043640" y="2668755"/>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ASSEMBLY 3</a:t>
            </a:r>
            <a:endParaRPr lang="en-US" sz="1200" dirty="0">
              <a:solidFill>
                <a:schemeClr val="tx1"/>
              </a:solidFill>
            </a:endParaRPr>
          </a:p>
        </p:txBody>
      </p:sp>
      <p:sp>
        <p:nvSpPr>
          <p:cNvPr id="26" name="Rectangle 25"/>
          <p:cNvSpPr/>
          <p:nvPr/>
        </p:nvSpPr>
        <p:spPr>
          <a:xfrm>
            <a:off x="8842407" y="1216479"/>
            <a:ext cx="1997319" cy="2191109"/>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WAREHOUSE</a:t>
            </a:r>
            <a:endParaRPr lang="en-US" sz="1200" dirty="0">
              <a:solidFill>
                <a:schemeClr val="tx1"/>
              </a:solidFill>
            </a:endParaRPr>
          </a:p>
        </p:txBody>
      </p:sp>
      <p:sp>
        <p:nvSpPr>
          <p:cNvPr id="3" name="Rectangle 2"/>
          <p:cNvSpPr/>
          <p:nvPr/>
        </p:nvSpPr>
        <p:spPr>
          <a:xfrm rot="16200000">
            <a:off x="5896333" y="3296438"/>
            <a:ext cx="1810932" cy="2191109"/>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WHEEL</a:t>
            </a:r>
            <a:endParaRPr lang="en-US" sz="1200" dirty="0">
              <a:solidFill>
                <a:schemeClr val="tx1"/>
              </a:solidFill>
            </a:endParaRPr>
          </a:p>
          <a:p>
            <a:pPr algn="ctr"/>
            <a:r>
              <a:rPr lang="en-US" sz="1200" dirty="0">
                <a:solidFill>
                  <a:schemeClr val="tx1"/>
                </a:solidFill>
              </a:rPr>
              <a:t>PRESS</a:t>
            </a:r>
            <a:endParaRPr lang="en-US" sz="1200" dirty="0">
              <a:solidFill>
                <a:schemeClr val="tx1"/>
              </a:solidFill>
            </a:endParaRPr>
          </a:p>
        </p:txBody>
      </p:sp>
      <p:grpSp>
        <p:nvGrpSpPr>
          <p:cNvPr id="51" name="Group 50"/>
          <p:cNvGrpSpPr/>
          <p:nvPr/>
        </p:nvGrpSpPr>
        <p:grpSpPr>
          <a:xfrm>
            <a:off x="3992880" y="2859405"/>
            <a:ext cx="6835140" cy="1192530"/>
            <a:chOff x="3339041" y="2948555"/>
            <a:chExt cx="7607365" cy="1192356"/>
          </a:xfrm>
          <a:solidFill>
            <a:srgbClr val="FFFF00">
              <a:alpha val="29804"/>
            </a:srgbClr>
          </a:solidFill>
        </p:grpSpPr>
        <p:sp>
          <p:nvSpPr>
            <p:cNvPr id="42" name="Rectangle 41"/>
            <p:cNvSpPr/>
            <p:nvPr/>
          </p:nvSpPr>
          <p:spPr>
            <a:xfrm>
              <a:off x="3339041" y="2948555"/>
              <a:ext cx="5033005" cy="5995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658001" y="3541375"/>
              <a:ext cx="3288405" cy="5995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p:nvGrpSpPr>
        <p:grpSpPr>
          <a:xfrm>
            <a:off x="7504075" y="807439"/>
            <a:ext cx="1275487" cy="4805356"/>
            <a:chOff x="6232384" y="818869"/>
            <a:chExt cx="1275487" cy="4805356"/>
          </a:xfrm>
        </p:grpSpPr>
        <p:sp>
          <p:nvSpPr>
            <p:cNvPr id="16" name="Rectangle 15"/>
            <p:cNvSpPr/>
            <p:nvPr/>
          </p:nvSpPr>
          <p:spPr>
            <a:xfrm>
              <a:off x="6488087" y="872197"/>
              <a:ext cx="163903" cy="4691743"/>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110621" y="872196"/>
              <a:ext cx="163903" cy="4691743"/>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16200000">
              <a:off x="6804469" y="246993"/>
              <a:ext cx="131526" cy="1275277"/>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rot="16200000">
              <a:off x="6804259" y="4920823"/>
              <a:ext cx="131526" cy="1275277"/>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550112" y="3355539"/>
              <a:ext cx="652945" cy="403236"/>
            </a:xfrm>
            <a:prstGeom prst="rect">
              <a:avLst/>
            </a:prstGeom>
            <a:solidFill>
              <a:schemeClr val="accent2">
                <a:lumMod val="20000"/>
                <a:lumOff val="80000"/>
              </a:schemeClr>
            </a:solidFill>
            <a:ln w="127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Crane</a:t>
              </a:r>
              <a:endParaRPr lang="en-US" sz="1100" dirty="0">
                <a:solidFill>
                  <a:schemeClr val="tx1"/>
                </a:solidFill>
              </a:endParaRPr>
            </a:p>
          </p:txBody>
        </p:sp>
      </p:grpSp>
      <p:sp>
        <p:nvSpPr>
          <p:cNvPr id="31" name="Rectangle 27"/>
          <p:cNvSpPr/>
          <p:nvPr/>
        </p:nvSpPr>
        <p:spPr>
          <a:xfrm>
            <a:off x="1314025" y="1216510"/>
            <a:ext cx="1810932" cy="1078302"/>
          </a:xfrm>
          <a:prstGeom prst="rect">
            <a:avLst/>
          </a:prstGeom>
          <a:pattFill prst="pct10">
            <a:fgClr>
              <a:schemeClr val="accent1">
                <a:lumMod val="75000"/>
              </a:schemeClr>
            </a:fgClr>
            <a:bgClr>
              <a:schemeClr val="bg1"/>
            </a:bgClr>
          </a:patt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recreation zone rest etc</a:t>
            </a:r>
            <a:endParaRPr lang="en-US" sz="1200" dirty="0">
              <a:solidFill>
                <a:schemeClr val="tx1"/>
              </a:solidFill>
            </a:endParaRPr>
          </a:p>
        </p:txBody>
      </p:sp>
      <p:sp>
        <p:nvSpPr>
          <p:cNvPr id="32" name="Text Box 31"/>
          <p:cNvSpPr txBox="1"/>
          <p:nvPr/>
        </p:nvSpPr>
        <p:spPr>
          <a:xfrm>
            <a:off x="1016000" y="218440"/>
            <a:ext cx="5577205" cy="368300"/>
          </a:xfrm>
          <a:prstGeom prst="rect">
            <a:avLst/>
          </a:prstGeom>
          <a:noFill/>
        </p:spPr>
        <p:txBody>
          <a:bodyPr wrap="square" rtlCol="0">
            <a:spAutoFit/>
          </a:bodyPr>
          <a:p>
            <a:r>
              <a:rPr lang="en-US" b="1">
                <a:solidFill>
                  <a:srgbClr val="FF0000"/>
                </a:solidFill>
                <a:latin typeface="Times New Roman" panose="02020503050405090304" charset="0"/>
                <a:cs typeface="Times New Roman" panose="02020503050405090304" charset="0"/>
              </a:rPr>
              <a:t>NEW LAYOUT PROPOSAL</a:t>
            </a:r>
            <a:endParaRPr lang="en-US" b="1">
              <a:solidFill>
                <a:srgbClr val="FF0000"/>
              </a:solidFill>
              <a:latin typeface="Times New Roman" panose="02020503050405090304" charset="0"/>
              <a:cs typeface="Times New Roman" panose="02020503050405090304" charset="0"/>
            </a:endParaRPr>
          </a:p>
        </p:txBody>
      </p:sp>
      <p:cxnSp>
        <p:nvCxnSpPr>
          <p:cNvPr id="34" name="Straight Arrow Connector 33"/>
          <p:cNvCxnSpPr/>
          <p:nvPr/>
        </p:nvCxnSpPr>
        <p:spPr>
          <a:xfrm flipH="1">
            <a:off x="3573780" y="2596515"/>
            <a:ext cx="698500" cy="42100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H="1">
            <a:off x="5977255" y="2312035"/>
            <a:ext cx="6324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29" idx="3"/>
          </p:cNvCxnSpPr>
          <p:nvPr/>
        </p:nvCxnSpPr>
        <p:spPr>
          <a:xfrm flipV="1">
            <a:off x="5223510" y="4554220"/>
            <a:ext cx="658495" cy="1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748405" y="3747135"/>
            <a:ext cx="482600" cy="55435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26" idx="1"/>
          </p:cNvCxnSpPr>
          <p:nvPr/>
        </p:nvCxnSpPr>
        <p:spPr>
          <a:xfrm flipH="1">
            <a:off x="8411210" y="2312035"/>
            <a:ext cx="43116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7897495" y="2759710"/>
            <a:ext cx="1491615" cy="1428750"/>
          </a:xfrm>
          <a:prstGeom prst="straightConnector1">
            <a:avLst/>
          </a:prstGeom>
          <a:ln w="28575" cmpd="sng">
            <a:solidFill>
              <a:srgbClr val="FF0000"/>
            </a:solidFill>
            <a:prstDash val="solid"/>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Strategic Wheel Press Relocation Plan</a:t>
            </a:r>
            <a:endParaRPr lang="en-US" sz="1600" dirty="0"/>
          </a:p>
        </p:txBody>
      </p:sp>
      <p:sp>
        <p:nvSpPr>
          <p:cNvPr id="4" name="Shape 1"/>
          <p:cNvSpPr/>
          <p:nvPr/>
        </p:nvSpPr>
        <p:spPr>
          <a:xfrm rot="21000000">
            <a:off x="1001395" y="1683385"/>
            <a:ext cx="2458085" cy="3895725"/>
          </a:xfrm>
          <a:prstGeom prst="roundRect">
            <a:avLst>
              <a:gd name="adj" fmla="val 16667"/>
            </a:avLst>
          </a:prstGeom>
          <a:solidFill>
            <a:srgbClr val="E6E6FD"/>
          </a:solidFill>
        </p:spPr>
      </p:sp>
      <p:sp>
        <p:nvSpPr>
          <p:cNvPr id="5" name="Shape 2"/>
          <p:cNvSpPr/>
          <p:nvPr/>
        </p:nvSpPr>
        <p:spPr>
          <a:xfrm>
            <a:off x="1123950" y="1897380"/>
            <a:ext cx="2672080" cy="3894455"/>
          </a:xfrm>
          <a:prstGeom prst="roundRect">
            <a:avLst>
              <a:gd name="adj" fmla="val 16667"/>
            </a:avLst>
          </a:prstGeom>
          <a:solidFill>
            <a:srgbClr val="FFFFFF"/>
          </a:solidFill>
          <a:ln w="3175">
            <a:gradFill flip="none" rotWithShape="1">
              <a:gsLst>
                <a:gs pos="0">
                  <a:srgbClr val="FFFFFF"/>
                </a:gs>
                <a:gs pos="45000">
                  <a:srgbClr val="FFFFFF"/>
                </a:gs>
                <a:gs pos="63000">
                  <a:srgbClr val="EDCEFE"/>
                </a:gs>
                <a:gs pos="84000">
                  <a:srgbClr val="E1ADFD"/>
                </a:gs>
                <a:gs pos="100000">
                  <a:srgbClr val="E1ADFD"/>
                </a:gs>
              </a:gsLst>
              <a:lin ang="2700000" scaled="1"/>
            </a:gradFill>
            <a:prstDash val="solid"/>
          </a:ln>
        </p:spPr>
      </p:sp>
      <p:sp>
        <p:nvSpPr>
          <p:cNvPr id="6" name="Shape 3"/>
          <p:cNvSpPr/>
          <p:nvPr/>
        </p:nvSpPr>
        <p:spPr>
          <a:xfrm>
            <a:off x="4084955" y="1574800"/>
            <a:ext cx="7435850" cy="2242185"/>
          </a:xfrm>
          <a:prstGeom prst="roundRect">
            <a:avLst>
              <a:gd name="adj" fmla="val 16667"/>
            </a:avLst>
          </a:prstGeom>
          <a:solidFill>
            <a:srgbClr val="FFFFFF"/>
          </a:solidFill>
          <a:ln w="19050">
            <a:gradFill flip="none" rotWithShape="1">
              <a:gsLst>
                <a:gs pos="0">
                  <a:srgbClr val="F9EEFF"/>
                </a:gs>
                <a:gs pos="100000">
                  <a:srgbClr val="E1ADFD"/>
                </a:gs>
              </a:gsLst>
              <a:lin ang="2700000" scaled="1"/>
            </a:gradFill>
            <a:prstDash val="solid"/>
          </a:ln>
        </p:spPr>
      </p:sp>
      <p:sp>
        <p:nvSpPr>
          <p:cNvPr id="7" name="Shape 4"/>
          <p:cNvSpPr/>
          <p:nvPr/>
        </p:nvSpPr>
        <p:spPr>
          <a:xfrm>
            <a:off x="4323080" y="2100580"/>
            <a:ext cx="1325880" cy="1325880"/>
          </a:xfrm>
          <a:prstGeom prst="roundRect">
            <a:avLst>
              <a:gd name="adj" fmla="val 16667"/>
            </a:avLst>
          </a:prstGeom>
          <a:solidFill>
            <a:srgbClr val="E1ADFD"/>
          </a:solidFill>
        </p:spPr>
      </p:sp>
      <p:sp>
        <p:nvSpPr>
          <p:cNvPr id="8" name="Text 5"/>
          <p:cNvSpPr/>
          <p:nvPr/>
        </p:nvSpPr>
        <p:spPr>
          <a:xfrm>
            <a:off x="4499610" y="2374900"/>
            <a:ext cx="972185" cy="758190"/>
          </a:xfrm>
          <a:prstGeom prst="rect">
            <a:avLst/>
          </a:prstGeom>
          <a:noFill/>
        </p:spPr>
        <p:txBody>
          <a:bodyPr wrap="square" lIns="91440" tIns="45720" rIns="91440" bIns="45720" rtlCol="0" anchor="t">
            <a:spAutoFit/>
          </a:bodyPr>
          <a:lstStyle/>
          <a:p>
            <a:pPr algn="ctr">
              <a:lnSpc>
                <a:spcPct val="100000"/>
              </a:lnSpc>
            </a:pPr>
            <a:r>
              <a:rPr lang="en-US" sz="4400" b="1" dirty="0">
                <a:solidFill>
                  <a:srgbClr val="FFFFFF"/>
                </a:solidFill>
                <a:latin typeface="MiSans" pitchFamily="34" charset="0"/>
                <a:ea typeface="MiSans" pitchFamily="34" charset="-122"/>
                <a:cs typeface="MiSans" pitchFamily="34" charset="-120"/>
              </a:rPr>
              <a:t>01</a:t>
            </a:r>
            <a:endParaRPr lang="en-US" sz="1600" dirty="0"/>
          </a:p>
        </p:txBody>
      </p:sp>
      <p:sp>
        <p:nvSpPr>
          <p:cNvPr id="9" name="Shape 6"/>
          <p:cNvSpPr/>
          <p:nvPr/>
        </p:nvSpPr>
        <p:spPr>
          <a:xfrm>
            <a:off x="4084955" y="4368800"/>
            <a:ext cx="7435850" cy="1896110"/>
          </a:xfrm>
          <a:prstGeom prst="roundRect">
            <a:avLst>
              <a:gd name="adj" fmla="val 16667"/>
            </a:avLst>
          </a:prstGeom>
          <a:solidFill>
            <a:srgbClr val="FFFFFF"/>
          </a:solidFill>
          <a:ln w="19050">
            <a:gradFill flip="none" rotWithShape="1">
              <a:gsLst>
                <a:gs pos="0">
                  <a:srgbClr val="F9EEFF"/>
                </a:gs>
                <a:gs pos="100000">
                  <a:srgbClr val="E1ADFD"/>
                </a:gs>
              </a:gsLst>
              <a:lin ang="2700000" scaled="1"/>
            </a:gradFill>
            <a:prstDash val="solid"/>
          </a:ln>
        </p:spPr>
      </p:sp>
      <p:sp>
        <p:nvSpPr>
          <p:cNvPr id="10" name="Shape 7"/>
          <p:cNvSpPr/>
          <p:nvPr/>
        </p:nvSpPr>
        <p:spPr>
          <a:xfrm>
            <a:off x="4323080" y="4589780"/>
            <a:ext cx="1325880" cy="1325880"/>
          </a:xfrm>
          <a:prstGeom prst="roundRect">
            <a:avLst>
              <a:gd name="adj" fmla="val 16667"/>
            </a:avLst>
          </a:prstGeom>
          <a:solidFill>
            <a:srgbClr val="E1ADFD"/>
          </a:solidFill>
        </p:spPr>
      </p:sp>
      <p:sp>
        <p:nvSpPr>
          <p:cNvPr id="11" name="Text 8"/>
          <p:cNvSpPr/>
          <p:nvPr/>
        </p:nvSpPr>
        <p:spPr>
          <a:xfrm>
            <a:off x="4499610" y="4868545"/>
            <a:ext cx="972185" cy="758190"/>
          </a:xfrm>
          <a:prstGeom prst="rect">
            <a:avLst/>
          </a:prstGeom>
          <a:noFill/>
        </p:spPr>
        <p:txBody>
          <a:bodyPr wrap="square" lIns="91440" tIns="45720" rIns="91440" bIns="45720" rtlCol="0" anchor="t">
            <a:spAutoFit/>
          </a:bodyPr>
          <a:lstStyle/>
          <a:p>
            <a:pPr algn="ctr">
              <a:lnSpc>
                <a:spcPct val="100000"/>
              </a:lnSpc>
            </a:pPr>
            <a:r>
              <a:rPr lang="en-US" sz="4400" b="1" dirty="0">
                <a:solidFill>
                  <a:srgbClr val="FFFFFF"/>
                </a:solidFill>
                <a:latin typeface="MiSans" pitchFamily="34" charset="0"/>
                <a:ea typeface="MiSans" pitchFamily="34" charset="-122"/>
                <a:cs typeface="MiSans" pitchFamily="34" charset="-120"/>
              </a:rPr>
              <a:t>02</a:t>
            </a:r>
            <a:endParaRPr lang="en-US" sz="1600" dirty="0"/>
          </a:p>
        </p:txBody>
      </p:sp>
      <p:sp>
        <p:nvSpPr>
          <p:cNvPr id="12" name="Text 9"/>
          <p:cNvSpPr/>
          <p:nvPr/>
        </p:nvSpPr>
        <p:spPr>
          <a:xfrm>
            <a:off x="1381125" y="2271395"/>
            <a:ext cx="2138971" cy="672465"/>
          </a:xfrm>
          <a:prstGeom prst="rect">
            <a:avLst/>
          </a:prstGeom>
          <a:noFill/>
        </p:spPr>
        <p:txBody>
          <a:bodyPr wrap="square" lIns="91440" tIns="45720" rIns="91440" bIns="45720" rtlCol="0" anchor="t">
            <a:spAutoFit/>
          </a:bodyPr>
          <a:lstStyle/>
          <a:p>
            <a:pPr algn="l">
              <a:lnSpc>
                <a:spcPct val="100000"/>
              </a:lnSpc>
            </a:pPr>
            <a:r>
              <a:rPr lang="en-US" sz="1800" b="1" dirty="0">
                <a:solidFill>
                  <a:srgbClr val="000000"/>
                </a:solidFill>
                <a:latin typeface="MiSans" pitchFamily="34" charset="0"/>
                <a:ea typeface="MiSans" pitchFamily="34" charset="-122"/>
                <a:cs typeface="MiSans" pitchFamily="34" charset="-120"/>
              </a:rPr>
              <a:t>Proximity Optimization</a:t>
            </a:r>
            <a:endParaRPr lang="en-US" sz="1600" dirty="0"/>
          </a:p>
        </p:txBody>
      </p:sp>
      <p:sp>
        <p:nvSpPr>
          <p:cNvPr id="13" name="Text 10"/>
          <p:cNvSpPr/>
          <p:nvPr/>
        </p:nvSpPr>
        <p:spPr>
          <a:xfrm>
            <a:off x="1123950" y="2943860"/>
            <a:ext cx="2672080" cy="2745740"/>
          </a:xfrm>
          <a:prstGeom prst="rect">
            <a:avLst/>
          </a:prstGeom>
          <a:noFill/>
        </p:spPr>
        <p:txBody>
          <a:bodyPr wrap="square" lIns="91440" tIns="45720" rIns="91440" bIns="45720" rtlCol="0" anchor="t">
            <a:spAutoFit/>
          </a:bodyPr>
          <a:lstStyle/>
          <a:p>
            <a:pPr marL="171450" indent="-171450">
              <a:lnSpc>
                <a:spcPct val="12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 wheel press section will be relocated adjacent to the warehouse to minimize crane travel distance fundamentally.</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2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2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 This strategic positioning transforms long-haul crane movements into short-range operations, directly addressing the root cause of transportation delays in the current configuration.</a:t>
            </a:r>
            <a:endParaRPr lang="en-US" sz="1200" dirty="0">
              <a:solidFill>
                <a:srgbClr val="000000"/>
              </a:solidFill>
              <a:latin typeface="MiSans" pitchFamily="34" charset="0"/>
              <a:ea typeface="MiSans" pitchFamily="34" charset="-122"/>
              <a:cs typeface="MiSans" pitchFamily="34" charset="-120"/>
            </a:endParaRPr>
          </a:p>
        </p:txBody>
      </p:sp>
      <p:sp>
        <p:nvSpPr>
          <p:cNvPr id="14" name="Text 11"/>
          <p:cNvSpPr/>
          <p:nvPr/>
        </p:nvSpPr>
        <p:spPr>
          <a:xfrm>
            <a:off x="5907405" y="1826260"/>
            <a:ext cx="5423535"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Circuit Flow Design</a:t>
            </a:r>
            <a:endParaRPr lang="en-US" sz="1600" dirty="0"/>
          </a:p>
        </p:txBody>
      </p:sp>
      <p:sp>
        <p:nvSpPr>
          <p:cNvPr id="15" name="Text 12"/>
          <p:cNvSpPr/>
          <p:nvPr/>
        </p:nvSpPr>
        <p:spPr>
          <a:xfrm>
            <a:off x="5907405" y="2271395"/>
            <a:ext cx="5423535" cy="1435735"/>
          </a:xfrm>
          <a:prstGeom prst="rect">
            <a:avLst/>
          </a:prstGeom>
          <a:noFill/>
        </p:spPr>
        <p:txBody>
          <a:bodyPr wrap="square" lIns="91440" tIns="45720" rIns="91440" bIns="45720" rtlCol="0" anchor="t"/>
          <a:lstStyle/>
          <a:p>
            <a:pPr>
              <a:lnSpc>
                <a:spcPct val="120000"/>
              </a:lnSpc>
            </a:pPr>
            <a:r>
              <a:rPr lang="en-US" sz="1400" dirty="0">
                <a:solidFill>
                  <a:srgbClr val="000000"/>
                </a:solidFill>
                <a:latin typeface="MiSans" pitchFamily="34" charset="0"/>
                <a:ea typeface="MiSans" pitchFamily="34" charset="-122"/>
                <a:cs typeface="MiSans" pitchFamily="34" charset="-120"/>
              </a:rPr>
              <a:t>The new layout establishes a closed-loop circuit where material flows sequentially from warehouse through Assembly 1, 2, 3, and 4, then to the wheel press, and returns directly to warehouse. This design eliminates backtracking and creates a continuous production pathway.</a:t>
            </a:r>
            <a:endParaRPr lang="en-US" sz="1600" dirty="0"/>
          </a:p>
        </p:txBody>
      </p:sp>
      <p:sp>
        <p:nvSpPr>
          <p:cNvPr id="16" name="Text 13"/>
          <p:cNvSpPr/>
          <p:nvPr/>
        </p:nvSpPr>
        <p:spPr>
          <a:xfrm>
            <a:off x="5907405" y="4500245"/>
            <a:ext cx="5423535"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System Integration</a:t>
            </a:r>
            <a:endParaRPr lang="en-US" sz="1600" dirty="0"/>
          </a:p>
        </p:txBody>
      </p:sp>
      <p:sp>
        <p:nvSpPr>
          <p:cNvPr id="17" name="Text 14"/>
          <p:cNvSpPr/>
          <p:nvPr/>
        </p:nvSpPr>
        <p:spPr>
          <a:xfrm>
            <a:off x="5907405" y="4800600"/>
            <a:ext cx="5423535" cy="1371362"/>
          </a:xfrm>
          <a:prstGeom prst="rect">
            <a:avLst/>
          </a:prstGeom>
          <a:noFill/>
        </p:spPr>
        <p:txBody>
          <a:bodyPr wrap="square" lIns="91440" tIns="45720" rIns="91440" bIns="45720" rtlCol="0" anchor="t">
            <a:spAutoFit/>
          </a:bodyPr>
          <a:lstStyle/>
          <a:p>
            <a:pPr>
              <a:lnSpc>
                <a:spcPct val="120000"/>
              </a:lnSpc>
            </a:pPr>
            <a:r>
              <a:rPr lang="en-US" sz="1400" dirty="0">
                <a:solidFill>
                  <a:srgbClr val="000000"/>
                </a:solidFill>
                <a:latin typeface="MiSans" pitchFamily="34" charset="0"/>
                <a:ea typeface="MiSans" pitchFamily="34" charset="-122"/>
                <a:cs typeface="MiSans" pitchFamily="34" charset="-120"/>
              </a:rPr>
              <a:t>The relocated wheel press maintains connectivity with all assembly stations while achieving optimal proximity to material source and destination points. This integration ensures that the bottleneck station becomes seamlessly embedded within the overall production flow.</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Circuit Flow: Streamlined Material Movement</a:t>
            </a:r>
            <a:endParaRPr lang="en-US" sz="1600" dirty="0"/>
          </a:p>
        </p:txBody>
      </p:sp>
      <p:sp>
        <p:nvSpPr>
          <p:cNvPr id="4" name="Shape 1"/>
          <p:cNvSpPr/>
          <p:nvPr/>
        </p:nvSpPr>
        <p:spPr>
          <a:xfrm>
            <a:off x="213360" y="1508125"/>
            <a:ext cx="11765280" cy="4257040"/>
          </a:xfrm>
          <a:prstGeom prst="roundRect">
            <a:avLst>
              <a:gd name="adj" fmla="val 8569"/>
            </a:avLst>
          </a:prstGeom>
          <a:solidFill>
            <a:srgbClr val="FFFFFF"/>
          </a:solidFill>
          <a:ln w="19050">
            <a:gradFill flip="none" rotWithShape="1">
              <a:gsLst>
                <a:gs pos="0">
                  <a:srgbClr val="E6E6FD"/>
                </a:gs>
                <a:gs pos="38000">
                  <a:srgbClr val="77B437">
                    <a:alpha val="0"/>
                  </a:srgbClr>
                </a:gs>
                <a:gs pos="66000">
                  <a:srgbClr val="80BD3F">
                    <a:alpha val="0"/>
                  </a:srgbClr>
                </a:gs>
                <a:gs pos="100000">
                  <a:srgbClr val="E6E6FD"/>
                </a:gs>
              </a:gsLst>
              <a:lin ang="0" scaled="1"/>
            </a:gradFill>
            <a:prstDash val="solid"/>
          </a:ln>
        </p:spPr>
      </p:sp>
      <p:sp>
        <p:nvSpPr>
          <p:cNvPr id="5" name="Shape 2"/>
          <p:cNvSpPr/>
          <p:nvPr/>
        </p:nvSpPr>
        <p:spPr>
          <a:xfrm flipH="1">
            <a:off x="4675505" y="2216150"/>
            <a:ext cx="2840990" cy="2840990"/>
          </a:xfrm>
          <a:prstGeom prst="ellipse">
            <a:avLst/>
          </a:prstGeom>
          <a:solidFill>
            <a:srgbClr val="E1ADFD">
              <a:alpha val="12941"/>
            </a:srgbClr>
          </a:solidFill>
        </p:spPr>
      </p:sp>
      <p:sp>
        <p:nvSpPr>
          <p:cNvPr id="6" name="Shape 3"/>
          <p:cNvSpPr/>
          <p:nvPr/>
        </p:nvSpPr>
        <p:spPr>
          <a:xfrm flipH="1">
            <a:off x="3959860" y="1500505"/>
            <a:ext cx="4272280" cy="4272280"/>
          </a:xfrm>
          <a:prstGeom prst="ellipse">
            <a:avLst/>
          </a:prstGeom>
          <a:solidFill>
            <a:srgbClr val="E6E6FD">
              <a:alpha val="12941"/>
            </a:srgbClr>
          </a:solidFill>
        </p:spPr>
      </p:sp>
      <p:sp>
        <p:nvSpPr>
          <p:cNvPr id="7" name="Shape 4"/>
          <p:cNvSpPr/>
          <p:nvPr/>
        </p:nvSpPr>
        <p:spPr>
          <a:xfrm flipH="1">
            <a:off x="4408805" y="1949450"/>
            <a:ext cx="3374390" cy="3374390"/>
          </a:xfrm>
          <a:prstGeom prst="ellipse">
            <a:avLst/>
          </a:prstGeom>
          <a:solidFill>
            <a:srgbClr val="000000">
              <a:alpha val="0"/>
            </a:srgbClr>
          </a:solidFill>
          <a:ln w="12700">
            <a:solidFill>
              <a:srgbClr val="E1ADFD"/>
            </a:solidFill>
            <a:prstDash val="dash"/>
          </a:ln>
        </p:spPr>
      </p:sp>
      <p:sp>
        <p:nvSpPr>
          <p:cNvPr id="8" name="Shape 5"/>
          <p:cNvSpPr/>
          <p:nvPr/>
        </p:nvSpPr>
        <p:spPr>
          <a:xfrm flipH="1">
            <a:off x="5010785" y="2551430"/>
            <a:ext cx="2171065" cy="2171065"/>
          </a:xfrm>
          <a:prstGeom prst="ellipse">
            <a:avLst/>
          </a:prstGeom>
          <a:solidFill>
            <a:srgbClr val="E1ADFD"/>
          </a:solidFill>
        </p:spPr>
      </p:sp>
      <p:pic>
        <p:nvPicPr>
          <p:cNvPr id="9" name="Image 1" descr="https://kimi-img.moonshot.cn/pub/slides/slides_tmpl/image/25-08-27-20:07:40-d2nfa318bjvh7rlj0gg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15610" y="3046730"/>
            <a:ext cx="1189990" cy="1189990"/>
          </a:xfrm>
          <a:prstGeom prst="rect">
            <a:avLst/>
          </a:prstGeom>
        </p:spPr>
      </p:pic>
      <p:sp>
        <p:nvSpPr>
          <p:cNvPr id="10" name="Text 6"/>
          <p:cNvSpPr/>
          <p:nvPr/>
        </p:nvSpPr>
        <p:spPr>
          <a:xfrm>
            <a:off x="579755" y="2103120"/>
            <a:ext cx="3117850" cy="745490"/>
          </a:xfrm>
          <a:prstGeom prst="rect">
            <a:avLst/>
          </a:prstGeom>
          <a:noFill/>
        </p:spPr>
        <p:txBody>
          <a:bodyPr wrap="square" lIns="91440" tIns="45720" rIns="91440" bIns="45720" rtlCol="0" anchor="t">
            <a:spAutoFit/>
          </a:bodyPr>
          <a:lstStyle/>
          <a:p>
            <a:pPr algn="l">
              <a:lnSpc>
                <a:spcPct val="100000"/>
              </a:lnSpc>
            </a:pPr>
            <a:r>
              <a:rPr lang="en-US" sz="2000" b="1" dirty="0">
                <a:solidFill>
                  <a:srgbClr val="000000"/>
                </a:solidFill>
                <a:latin typeface="MiSans" pitchFamily="34" charset="0"/>
                <a:ea typeface="MiSans" pitchFamily="34" charset="-122"/>
                <a:cs typeface="MiSans" pitchFamily="34" charset="-120"/>
              </a:rPr>
              <a:t>Linear Sequence Implementation</a:t>
            </a:r>
            <a:endParaRPr lang="en-US" sz="1600" dirty="0"/>
          </a:p>
        </p:txBody>
      </p:sp>
      <p:sp>
        <p:nvSpPr>
          <p:cNvPr id="11" name="Text 7"/>
          <p:cNvSpPr/>
          <p:nvPr/>
        </p:nvSpPr>
        <p:spPr>
          <a:xfrm>
            <a:off x="560705" y="2835275"/>
            <a:ext cx="3770630" cy="2327910"/>
          </a:xfrm>
          <a:prstGeom prst="rect">
            <a:avLst/>
          </a:prstGeom>
          <a:noFill/>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The new workflow follows a clear linear sequence: Warehouse → Assembly 1 → Assembly 2 → Assembly 3 → Assembly 4 → Wheel Press → Warehouse. This unidirectional flow eliminates cross-traffic and confusion, establishing predictable material movement patterns that support consistent production timing.</a:t>
            </a:r>
            <a:endParaRPr lang="en-US" sz="1400" dirty="0">
              <a:solidFill>
                <a:srgbClr val="000000"/>
              </a:solidFill>
              <a:latin typeface="MiSans" pitchFamily="34" charset="0"/>
              <a:ea typeface="MiSans" pitchFamily="34" charset="-122"/>
              <a:cs typeface="MiSans" pitchFamily="34" charset="-120"/>
            </a:endParaRPr>
          </a:p>
        </p:txBody>
      </p:sp>
      <p:sp>
        <p:nvSpPr>
          <p:cNvPr id="12" name="Text 8"/>
          <p:cNvSpPr/>
          <p:nvPr/>
        </p:nvSpPr>
        <p:spPr>
          <a:xfrm>
            <a:off x="8479155" y="2103120"/>
            <a:ext cx="3117850" cy="745490"/>
          </a:xfrm>
          <a:prstGeom prst="rect">
            <a:avLst/>
          </a:prstGeom>
          <a:noFill/>
        </p:spPr>
        <p:txBody>
          <a:bodyPr wrap="square" lIns="91440" tIns="45720" rIns="91440" bIns="45720" rtlCol="0" anchor="t">
            <a:spAutoFit/>
          </a:bodyPr>
          <a:lstStyle/>
          <a:p>
            <a:pPr algn="l">
              <a:lnSpc>
                <a:spcPct val="100000"/>
              </a:lnSpc>
            </a:pPr>
            <a:r>
              <a:rPr lang="en-US" sz="2000" b="1" dirty="0">
                <a:solidFill>
                  <a:srgbClr val="000000"/>
                </a:solidFill>
                <a:latin typeface="MiSans" pitchFamily="34" charset="0"/>
                <a:ea typeface="MiSans" pitchFamily="34" charset="-122"/>
                <a:cs typeface="MiSans" pitchFamily="34" charset="-120"/>
              </a:rPr>
              <a:t>Pick-and-Drop Operations</a:t>
            </a:r>
            <a:endParaRPr lang="en-US" sz="1600" dirty="0"/>
          </a:p>
        </p:txBody>
      </p:sp>
      <p:sp>
        <p:nvSpPr>
          <p:cNvPr id="13" name="Text 9"/>
          <p:cNvSpPr/>
          <p:nvPr/>
        </p:nvSpPr>
        <p:spPr>
          <a:xfrm>
            <a:off x="8460105" y="2835275"/>
            <a:ext cx="3116580" cy="2886710"/>
          </a:xfrm>
          <a:prstGeom prst="rect">
            <a:avLst/>
          </a:prstGeom>
          <a:noFill/>
        </p:spPr>
        <p:txBody>
          <a:bodyPr wrap="square" lIns="91440" tIns="45720" rIns="91440" bIns="45720" rtlCol="0" anchor="t">
            <a:spAutoFit/>
          </a:bodyPr>
          <a:lstStyle/>
          <a:p>
            <a:pPr>
              <a:lnSpc>
                <a:spcPct val="130000"/>
              </a:lnSpc>
            </a:pPr>
            <a:r>
              <a:rPr lang="en-US" sz="1400" dirty="0">
                <a:solidFill>
                  <a:srgbClr val="000000"/>
                </a:solidFill>
                <a:latin typeface="MiSans" pitchFamily="34" charset="0"/>
                <a:ea typeface="MiSans" pitchFamily="34" charset="-122"/>
                <a:cs typeface="MiSans" pitchFamily="34" charset="-120"/>
              </a:rPr>
              <a:t>Crane operations transform from complex long-distance transport into simple pick-and-drop movements between adjacent stations. This operational simplification reduces the need for repeated crane repositioning and alignment, enabling faster cycle completion and higher throughput capacity.</a:t>
            </a:r>
            <a:endParaRPr lang="en-US" sz="1400"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Dedicated Recreational Zone Integration</a:t>
            </a:r>
            <a:endParaRPr lang="en-US" sz="1600" dirty="0"/>
          </a:p>
        </p:txBody>
      </p:sp>
      <p:sp>
        <p:nvSpPr>
          <p:cNvPr id="4" name="Shape 1"/>
          <p:cNvSpPr/>
          <p:nvPr/>
        </p:nvSpPr>
        <p:spPr>
          <a:xfrm>
            <a:off x="1086485" y="1710055"/>
            <a:ext cx="3119120" cy="4194175"/>
          </a:xfrm>
          <a:prstGeom prst="roundRect">
            <a:avLst>
              <a:gd name="adj" fmla="val 4788"/>
            </a:avLst>
          </a:prstGeom>
          <a:solidFill>
            <a:srgbClr val="FFFFFF"/>
          </a:solidFill>
          <a:ln w="25400">
            <a:solidFill>
              <a:srgbClr val="E6E6FD"/>
            </a:solidFill>
            <a:prstDash val="solid"/>
          </a:ln>
        </p:spPr>
      </p:sp>
      <p:sp>
        <p:nvSpPr>
          <p:cNvPr id="5" name="Shape 2"/>
          <p:cNvSpPr/>
          <p:nvPr/>
        </p:nvSpPr>
        <p:spPr>
          <a:xfrm>
            <a:off x="4500880" y="1710055"/>
            <a:ext cx="3119120" cy="4194175"/>
          </a:xfrm>
          <a:prstGeom prst="roundRect">
            <a:avLst>
              <a:gd name="adj" fmla="val 4788"/>
            </a:avLst>
          </a:prstGeom>
          <a:solidFill>
            <a:srgbClr val="FFFFFF"/>
          </a:solidFill>
          <a:ln w="25400">
            <a:solidFill>
              <a:srgbClr val="E6E6FD"/>
            </a:solidFill>
            <a:prstDash val="solid"/>
          </a:ln>
        </p:spPr>
      </p:sp>
      <p:sp>
        <p:nvSpPr>
          <p:cNvPr id="6" name="Shape 3"/>
          <p:cNvSpPr/>
          <p:nvPr/>
        </p:nvSpPr>
        <p:spPr>
          <a:xfrm>
            <a:off x="7915275" y="1710055"/>
            <a:ext cx="3119120" cy="4194175"/>
          </a:xfrm>
          <a:prstGeom prst="roundRect">
            <a:avLst>
              <a:gd name="adj" fmla="val 4788"/>
            </a:avLst>
          </a:prstGeom>
          <a:solidFill>
            <a:srgbClr val="FFFFFF"/>
          </a:solidFill>
          <a:ln w="25400">
            <a:solidFill>
              <a:srgbClr val="E6E6FD"/>
            </a:solidFill>
            <a:prstDash val="solid"/>
          </a:ln>
        </p:spPr>
      </p:sp>
      <p:sp>
        <p:nvSpPr>
          <p:cNvPr id="7" name="Text 4"/>
          <p:cNvSpPr/>
          <p:nvPr/>
        </p:nvSpPr>
        <p:spPr>
          <a:xfrm>
            <a:off x="1363980" y="1902460"/>
            <a:ext cx="722630" cy="643890"/>
          </a:xfrm>
          <a:prstGeom prst="rect">
            <a:avLst/>
          </a:prstGeom>
          <a:noFill/>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01</a:t>
            </a:r>
            <a:endParaRPr lang="en-US" sz="1600" dirty="0"/>
          </a:p>
        </p:txBody>
      </p:sp>
      <p:sp>
        <p:nvSpPr>
          <p:cNvPr id="8" name="Text 5"/>
          <p:cNvSpPr/>
          <p:nvPr/>
        </p:nvSpPr>
        <p:spPr>
          <a:xfrm>
            <a:off x="1313180" y="2498090"/>
            <a:ext cx="265557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Strategic Positioning</a:t>
            </a:r>
            <a:endParaRPr lang="en-US" sz="1600" dirty="0"/>
          </a:p>
        </p:txBody>
      </p:sp>
      <p:sp>
        <p:nvSpPr>
          <p:cNvPr id="9" name="Text 6"/>
          <p:cNvSpPr/>
          <p:nvPr/>
        </p:nvSpPr>
        <p:spPr>
          <a:xfrm>
            <a:off x="1294130" y="3165475"/>
            <a:ext cx="3207385" cy="2675255"/>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 recreational and rest area is located in a quiet, isolated corner of the facility, deliberately separated from active production zones.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This placement ensures workers can recover without exposure to noise, vibration, or safety hazards associated with crane operations and wheel press activities.</a:t>
            </a:r>
            <a:endParaRPr lang="en-US" sz="1200" dirty="0">
              <a:solidFill>
                <a:srgbClr val="000000"/>
              </a:solidFill>
              <a:latin typeface="MiSans" pitchFamily="34" charset="0"/>
              <a:ea typeface="MiSans" pitchFamily="34" charset="-122"/>
              <a:cs typeface="MiSans" pitchFamily="34" charset="-120"/>
            </a:endParaRPr>
          </a:p>
        </p:txBody>
      </p:sp>
      <p:sp>
        <p:nvSpPr>
          <p:cNvPr id="10" name="Text 7"/>
          <p:cNvSpPr/>
          <p:nvPr/>
        </p:nvSpPr>
        <p:spPr>
          <a:xfrm>
            <a:off x="4778375" y="1902460"/>
            <a:ext cx="912495" cy="643890"/>
          </a:xfrm>
          <a:prstGeom prst="rect">
            <a:avLst/>
          </a:prstGeom>
          <a:noFill/>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02</a:t>
            </a:r>
            <a:endParaRPr lang="en-US" sz="1600" dirty="0"/>
          </a:p>
        </p:txBody>
      </p:sp>
      <p:sp>
        <p:nvSpPr>
          <p:cNvPr id="11" name="Text 8"/>
          <p:cNvSpPr/>
          <p:nvPr/>
        </p:nvSpPr>
        <p:spPr>
          <a:xfrm>
            <a:off x="4727575" y="2498090"/>
            <a:ext cx="265557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Safety Separation</a:t>
            </a:r>
            <a:endParaRPr lang="en-US" sz="1600" dirty="0"/>
          </a:p>
        </p:txBody>
      </p:sp>
      <p:sp>
        <p:nvSpPr>
          <p:cNvPr id="12" name="Text 9"/>
          <p:cNvSpPr/>
          <p:nvPr/>
        </p:nvSpPr>
        <p:spPr>
          <a:xfrm>
            <a:off x="4708525" y="3165475"/>
            <a:ext cx="3001645" cy="2933700"/>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 rest area maintains clear separation from all crane pathways and wheel press operations, eliminating potential conflicts between personnel recovery activities and material handling movements.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This design prioritizes worker safety while supporting mental and physical rejuvenation.</a:t>
            </a:r>
            <a:endParaRPr lang="en-US" sz="1200" dirty="0">
              <a:solidFill>
                <a:srgbClr val="000000"/>
              </a:solidFill>
              <a:latin typeface="MiSans" pitchFamily="34" charset="0"/>
              <a:ea typeface="MiSans" pitchFamily="34" charset="-122"/>
              <a:cs typeface="MiSans" pitchFamily="34" charset="-120"/>
            </a:endParaRPr>
          </a:p>
        </p:txBody>
      </p:sp>
      <p:sp>
        <p:nvSpPr>
          <p:cNvPr id="13" name="Text 10"/>
          <p:cNvSpPr/>
          <p:nvPr/>
        </p:nvSpPr>
        <p:spPr>
          <a:xfrm>
            <a:off x="8192770" y="1902460"/>
            <a:ext cx="912495" cy="643890"/>
          </a:xfrm>
          <a:prstGeom prst="rect">
            <a:avLst/>
          </a:prstGeom>
          <a:noFill/>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03</a:t>
            </a:r>
            <a:endParaRPr lang="en-US" sz="1600" dirty="0"/>
          </a:p>
        </p:txBody>
      </p:sp>
      <p:sp>
        <p:nvSpPr>
          <p:cNvPr id="14" name="Text 11"/>
          <p:cNvSpPr/>
          <p:nvPr/>
        </p:nvSpPr>
        <p:spPr>
          <a:xfrm>
            <a:off x="8141970" y="2498090"/>
            <a:ext cx="2655570"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Productivity Support</a:t>
            </a:r>
            <a:endParaRPr lang="en-US" sz="1600" dirty="0"/>
          </a:p>
        </p:txBody>
      </p:sp>
      <p:sp>
        <p:nvSpPr>
          <p:cNvPr id="15" name="Text 12"/>
          <p:cNvSpPr/>
          <p:nvPr/>
        </p:nvSpPr>
        <p:spPr>
          <a:xfrm>
            <a:off x="8122920" y="3165475"/>
            <a:ext cx="3271520" cy="2416810"/>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 dedicated recreational zone enables short recovery breaks that reduce physical and mental fatigue, directly contributing to improved worker morale.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Sustained productivity over long shifts becomes achievable when employees have access to quality rest facilities within the production environment.</a:t>
            </a:r>
            <a:endParaRPr lang="en-US" sz="1200"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8-27-20:07:40-d2nfa318bjvh7rlj0gf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3340"/>
          </a:xfrm>
          <a:prstGeom prst="rect">
            <a:avLst/>
          </a:prstGeom>
          <a:noFill/>
        </p:spPr>
        <p:txBody>
          <a:bodyPr wrap="square" lIns="91440" tIns="45720" rIns="91440" bIns="45720" rtlCol="0" anchor="t">
            <a:spAutoFit/>
          </a:bodyPr>
          <a:lstStyle/>
          <a:p>
            <a:pPr>
              <a:lnSpc>
                <a:spcPct val="100000"/>
              </a:lnSpc>
            </a:pPr>
            <a:r>
              <a:rPr lang="en-US" sz="8000" b="1" dirty="0">
                <a:solidFill>
                  <a:srgbClr val="000000"/>
                </a:solidFill>
                <a:latin typeface="MiSans" pitchFamily="34" charset="0"/>
                <a:ea typeface="MiSans" pitchFamily="34" charset="-122"/>
                <a:cs typeface="MiSans" pitchFamily="34" charset="-120"/>
              </a:rPr>
              <a:t>03</a:t>
            </a:r>
            <a:endParaRPr lang="en-US" sz="1600" dirty="0"/>
          </a:p>
        </p:txBody>
      </p:sp>
      <p:sp>
        <p:nvSpPr>
          <p:cNvPr id="5" name="Text 1"/>
          <p:cNvSpPr/>
          <p:nvPr/>
        </p:nvSpPr>
        <p:spPr>
          <a:xfrm>
            <a:off x="649605" y="2985135"/>
            <a:ext cx="8241665" cy="828040"/>
          </a:xfrm>
          <a:prstGeom prst="rect">
            <a:avLst/>
          </a:prstGeom>
          <a:noFill/>
        </p:spPr>
        <p:txBody>
          <a:bodyPr wrap="square" lIns="91440" tIns="45720" rIns="91440" bIns="45720" rtlCol="0" anchor="t">
            <a:spAutoFit/>
          </a:bodyPr>
          <a:lstStyle/>
          <a:p>
            <a:pPr>
              <a:lnSpc>
                <a:spcPct val="100000"/>
              </a:lnSpc>
            </a:pPr>
            <a:r>
              <a:rPr lang="en-US" sz="4800" b="1" dirty="0">
                <a:solidFill>
                  <a:srgbClr val="404040"/>
                </a:solidFill>
                <a:latin typeface="MiSans" pitchFamily="34" charset="0"/>
                <a:ea typeface="MiSans" pitchFamily="34" charset="-122"/>
                <a:cs typeface="MiSans" pitchFamily="34" charset="-120"/>
              </a:rPr>
              <a:t>Justification and Benefits</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Quantified Efficiency Improvements</a:t>
            </a:r>
            <a:endParaRPr lang="en-US" sz="1600" dirty="0"/>
          </a:p>
        </p:txBody>
      </p:sp>
      <p:sp>
        <p:nvSpPr>
          <p:cNvPr id="4" name="Shape 1"/>
          <p:cNvSpPr/>
          <p:nvPr/>
        </p:nvSpPr>
        <p:spPr>
          <a:xfrm rot="5400000">
            <a:off x="588645" y="2689225"/>
            <a:ext cx="3455035" cy="2957195"/>
          </a:xfrm>
          <a:custGeom>
            <a:avLst/>
            <a:gdLst/>
            <a:ahLst/>
            <a:cxnLst/>
            <a:rect l="l" t="t" r="r" b="b"/>
            <a:pathLst>
              <a:path w="3455035" h="2957195">
                <a:moveTo>
                  <a:pt x="1914525" y="0"/>
                </a:moveTo>
                <a:lnTo>
                  <a:pt x="2684780" y="0"/>
                </a:lnTo>
                <a:lnTo>
                  <a:pt x="3455035" y="1478597"/>
                </a:lnTo>
                <a:lnTo>
                  <a:pt x="2684780" y="2957195"/>
                </a:lnTo>
                <a:lnTo>
                  <a:pt x="0" y="2957195"/>
                </a:lnTo>
                <a:lnTo>
                  <a:pt x="0" y="0"/>
                </a:lnTo>
                <a:lnTo>
                  <a:pt x="1914525" y="0"/>
                </a:lnTo>
                <a:close/>
              </a:path>
            </a:pathLst>
          </a:custGeom>
          <a:solidFill>
            <a:srgbClr val="FFFFFF"/>
          </a:solidFill>
          <a:ln w="25400">
            <a:solidFill>
              <a:srgbClr val="E6E6FD"/>
            </a:solidFill>
            <a:prstDash val="solid"/>
          </a:ln>
        </p:spPr>
      </p:sp>
      <p:sp>
        <p:nvSpPr>
          <p:cNvPr id="5" name="Shape 2"/>
          <p:cNvSpPr/>
          <p:nvPr/>
        </p:nvSpPr>
        <p:spPr>
          <a:xfrm>
            <a:off x="652780" y="1699260"/>
            <a:ext cx="3023870" cy="762000"/>
          </a:xfrm>
          <a:prstGeom prst="roundRect">
            <a:avLst>
              <a:gd name="adj" fmla="val 0"/>
            </a:avLst>
          </a:prstGeom>
          <a:solidFill>
            <a:srgbClr val="E6E6FD"/>
          </a:solidFill>
        </p:spPr>
      </p:sp>
      <p:sp>
        <p:nvSpPr>
          <p:cNvPr id="6" name="Shape 3"/>
          <p:cNvSpPr/>
          <p:nvPr/>
        </p:nvSpPr>
        <p:spPr>
          <a:xfrm>
            <a:off x="2017395" y="5783580"/>
            <a:ext cx="1052195" cy="121920"/>
          </a:xfrm>
          <a:prstGeom prst="ellipse">
            <a:avLst/>
          </a:prstGeom>
          <a:solidFill>
            <a:srgbClr val="E1ADFD">
              <a:alpha val="65098"/>
            </a:srgbClr>
          </a:solidFill>
        </p:spPr>
      </p:sp>
      <p:sp>
        <p:nvSpPr>
          <p:cNvPr id="7" name="Shape 4"/>
          <p:cNvSpPr/>
          <p:nvPr/>
        </p:nvSpPr>
        <p:spPr>
          <a:xfrm rot="5400000">
            <a:off x="4349115" y="2037715"/>
            <a:ext cx="3455035" cy="2957195"/>
          </a:xfrm>
          <a:custGeom>
            <a:avLst/>
            <a:gdLst/>
            <a:ahLst/>
            <a:cxnLst/>
            <a:rect l="l" t="t" r="r" b="b"/>
            <a:pathLst>
              <a:path w="3455035" h="2957195">
                <a:moveTo>
                  <a:pt x="1914525" y="0"/>
                </a:moveTo>
                <a:lnTo>
                  <a:pt x="2684780" y="0"/>
                </a:lnTo>
                <a:lnTo>
                  <a:pt x="3455035" y="1478597"/>
                </a:lnTo>
                <a:lnTo>
                  <a:pt x="2684780" y="2957195"/>
                </a:lnTo>
                <a:lnTo>
                  <a:pt x="0" y="2957195"/>
                </a:lnTo>
                <a:lnTo>
                  <a:pt x="0" y="0"/>
                </a:lnTo>
                <a:lnTo>
                  <a:pt x="1914525" y="0"/>
                </a:lnTo>
                <a:close/>
              </a:path>
            </a:pathLst>
          </a:custGeom>
          <a:solidFill>
            <a:srgbClr val="FFFFFF"/>
          </a:solidFill>
          <a:ln w="25400">
            <a:solidFill>
              <a:srgbClr val="E6E6FD"/>
            </a:solidFill>
            <a:prstDash val="solid"/>
          </a:ln>
        </p:spPr>
      </p:sp>
      <p:sp>
        <p:nvSpPr>
          <p:cNvPr id="8" name="Shape 5"/>
          <p:cNvSpPr/>
          <p:nvPr/>
        </p:nvSpPr>
        <p:spPr>
          <a:xfrm>
            <a:off x="4564380" y="1379220"/>
            <a:ext cx="3023870" cy="762000"/>
          </a:xfrm>
          <a:prstGeom prst="roundRect">
            <a:avLst>
              <a:gd name="adj" fmla="val 0"/>
            </a:avLst>
          </a:prstGeom>
          <a:solidFill>
            <a:srgbClr val="E6E6FD"/>
          </a:solidFill>
        </p:spPr>
      </p:sp>
      <p:sp>
        <p:nvSpPr>
          <p:cNvPr id="9" name="Shape 6"/>
          <p:cNvSpPr/>
          <p:nvPr/>
        </p:nvSpPr>
        <p:spPr>
          <a:xfrm>
            <a:off x="5550535" y="5387340"/>
            <a:ext cx="1052195" cy="121920"/>
          </a:xfrm>
          <a:prstGeom prst="ellipse">
            <a:avLst/>
          </a:prstGeom>
          <a:solidFill>
            <a:srgbClr val="E1ADFD">
              <a:alpha val="65098"/>
            </a:srgbClr>
          </a:solidFill>
        </p:spPr>
      </p:sp>
      <p:sp>
        <p:nvSpPr>
          <p:cNvPr id="10" name="Shape 7"/>
          <p:cNvSpPr/>
          <p:nvPr/>
        </p:nvSpPr>
        <p:spPr>
          <a:xfrm rot="5400000">
            <a:off x="7882255" y="2433955"/>
            <a:ext cx="3455035" cy="2957195"/>
          </a:xfrm>
          <a:custGeom>
            <a:avLst/>
            <a:gdLst/>
            <a:ahLst/>
            <a:cxnLst/>
            <a:rect l="l" t="t" r="r" b="b"/>
            <a:pathLst>
              <a:path w="3455035" h="2957195">
                <a:moveTo>
                  <a:pt x="1914525" y="0"/>
                </a:moveTo>
                <a:lnTo>
                  <a:pt x="2684780" y="0"/>
                </a:lnTo>
                <a:lnTo>
                  <a:pt x="3455035" y="1478597"/>
                </a:lnTo>
                <a:lnTo>
                  <a:pt x="2684780" y="2957195"/>
                </a:lnTo>
                <a:lnTo>
                  <a:pt x="0" y="2957195"/>
                </a:lnTo>
                <a:lnTo>
                  <a:pt x="0" y="0"/>
                </a:lnTo>
                <a:lnTo>
                  <a:pt x="1914525" y="0"/>
                </a:lnTo>
                <a:close/>
              </a:path>
            </a:pathLst>
          </a:custGeom>
          <a:solidFill>
            <a:srgbClr val="FFFFFF"/>
          </a:solidFill>
          <a:ln w="25400">
            <a:solidFill>
              <a:srgbClr val="E6E6FD"/>
            </a:solidFill>
            <a:prstDash val="solid"/>
          </a:ln>
        </p:spPr>
      </p:sp>
      <p:sp>
        <p:nvSpPr>
          <p:cNvPr id="11" name="Shape 8"/>
          <p:cNvSpPr/>
          <p:nvPr/>
        </p:nvSpPr>
        <p:spPr>
          <a:xfrm>
            <a:off x="8097520" y="1775460"/>
            <a:ext cx="3023870" cy="762000"/>
          </a:xfrm>
          <a:prstGeom prst="roundRect">
            <a:avLst>
              <a:gd name="adj" fmla="val 0"/>
            </a:avLst>
          </a:prstGeom>
          <a:solidFill>
            <a:srgbClr val="E6E6FD"/>
          </a:solidFill>
        </p:spPr>
      </p:sp>
      <p:sp>
        <p:nvSpPr>
          <p:cNvPr id="12" name="Shape 9"/>
          <p:cNvSpPr/>
          <p:nvPr/>
        </p:nvSpPr>
        <p:spPr>
          <a:xfrm>
            <a:off x="9083675" y="5783580"/>
            <a:ext cx="1052195" cy="121920"/>
          </a:xfrm>
          <a:prstGeom prst="ellipse">
            <a:avLst/>
          </a:prstGeom>
          <a:solidFill>
            <a:srgbClr val="E1ADFD">
              <a:alpha val="65098"/>
            </a:srgbClr>
          </a:solidFill>
        </p:spPr>
      </p:sp>
      <p:sp>
        <p:nvSpPr>
          <p:cNvPr id="13" name="Text 10"/>
          <p:cNvSpPr/>
          <p:nvPr/>
        </p:nvSpPr>
        <p:spPr>
          <a:xfrm>
            <a:off x="837565" y="1788795"/>
            <a:ext cx="2556510" cy="672465"/>
          </a:xfrm>
          <a:prstGeom prst="rect">
            <a:avLst/>
          </a:prstGeom>
          <a:noFill/>
        </p:spPr>
        <p:txBody>
          <a:bodyPr wrap="square" lIns="91440" tIns="45720" rIns="91440" bIns="4572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Transportation Time Reduction</a:t>
            </a:r>
            <a:endParaRPr lang="en-US" sz="1600" dirty="0"/>
          </a:p>
        </p:txBody>
      </p:sp>
      <p:sp>
        <p:nvSpPr>
          <p:cNvPr id="14" name="Text 11"/>
          <p:cNvSpPr/>
          <p:nvPr/>
        </p:nvSpPr>
        <p:spPr>
          <a:xfrm>
            <a:off x="712470" y="2593340"/>
            <a:ext cx="3533775" cy="2461260"/>
          </a:xfrm>
          <a:prstGeom prst="rect">
            <a:avLst/>
          </a:prstGeom>
          <a:noFill/>
        </p:spPr>
        <p:txBody>
          <a:bodyPr wrap="square" lIns="91440" tIns="45720" rIns="91440" bIns="45720" rtlCol="0" anchor="t">
            <a:spAutoFit/>
          </a:bodyPr>
          <a:lstStyle/>
          <a:p>
            <a:pPr marL="285750" indent="-285750">
              <a:lnSpc>
                <a:spcPct val="100000"/>
              </a:lnSpc>
              <a:buFont typeface="Arial" panose="020B0604020202090204" pitchFamily="34" charset="0"/>
              <a:buChar char="•"/>
            </a:pPr>
            <a:r>
              <a:rPr lang="en-US" sz="1400" dirty="0">
                <a:solidFill>
                  <a:srgbClr val="000000"/>
                </a:solidFill>
                <a:latin typeface="MiSans" pitchFamily="34" charset="0"/>
                <a:ea typeface="MiSans" pitchFamily="34" charset="-122"/>
                <a:cs typeface="MiSans" pitchFamily="34" charset="-120"/>
              </a:rPr>
              <a:t>The optimized layout delivers shorter travel distances that enable faster material movement throughout the wheel assembly section. </a:t>
            </a:r>
            <a:endParaRPr lang="en-US" sz="1400" dirty="0">
              <a:solidFill>
                <a:srgbClr val="000000"/>
              </a:solidFill>
              <a:latin typeface="MiSans" pitchFamily="34" charset="0"/>
              <a:ea typeface="MiSans" pitchFamily="34" charset="-122"/>
              <a:cs typeface="MiSans" pitchFamily="34" charset="-120"/>
            </a:endParaRPr>
          </a:p>
          <a:p>
            <a:pPr marL="285750" indent="-285750">
              <a:lnSpc>
                <a:spcPct val="100000"/>
              </a:lnSpc>
              <a:buFont typeface="Arial" panose="020B0604020202090204" pitchFamily="34" charset="0"/>
              <a:buChar char="•"/>
            </a:pPr>
            <a:endParaRPr lang="en-US" sz="1400" dirty="0">
              <a:solidFill>
                <a:srgbClr val="000000"/>
              </a:solidFill>
              <a:latin typeface="MiSans" pitchFamily="34" charset="0"/>
              <a:ea typeface="MiSans" pitchFamily="34" charset="-122"/>
              <a:cs typeface="MiSans" pitchFamily="34" charset="-120"/>
            </a:endParaRPr>
          </a:p>
          <a:p>
            <a:pPr marL="285750" indent="-285750" algn="l">
              <a:lnSpc>
                <a:spcPct val="100000"/>
              </a:lnSpc>
              <a:buFont typeface="Arial" panose="020B0604020202090204" pitchFamily="34" charset="0"/>
              <a:buChar char="•"/>
            </a:pPr>
            <a:r>
              <a:rPr lang="en-US" sz="1400" dirty="0">
                <a:solidFill>
                  <a:srgbClr val="000000"/>
                </a:solidFill>
                <a:latin typeface="MiSans" pitchFamily="34" charset="0"/>
                <a:ea typeface="MiSans" pitchFamily="34" charset="-122"/>
                <a:cs typeface="MiSans" pitchFamily="34" charset="-120"/>
              </a:rPr>
              <a:t>We project a cycle time reduction of 30-50% specifically at the wheel press stage, representing substantial throughput improvement at the previously constrained bottleneck station.</a:t>
            </a:r>
            <a:endParaRPr lang="en-US" sz="1400" dirty="0">
              <a:solidFill>
                <a:srgbClr val="000000"/>
              </a:solidFill>
              <a:latin typeface="MiSans" pitchFamily="34" charset="0"/>
              <a:ea typeface="MiSans" pitchFamily="34" charset="-122"/>
              <a:cs typeface="MiSans" pitchFamily="34" charset="-120"/>
            </a:endParaRPr>
          </a:p>
        </p:txBody>
      </p:sp>
      <p:sp>
        <p:nvSpPr>
          <p:cNvPr id="15" name="Text 12"/>
          <p:cNvSpPr/>
          <p:nvPr/>
        </p:nvSpPr>
        <p:spPr>
          <a:xfrm>
            <a:off x="4798060" y="1437640"/>
            <a:ext cx="2556510" cy="672465"/>
          </a:xfrm>
          <a:prstGeom prst="rect">
            <a:avLst/>
          </a:prstGeom>
          <a:noFill/>
        </p:spPr>
        <p:txBody>
          <a:bodyPr wrap="square" lIns="91440" tIns="45720" rIns="91440" bIns="4572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Crane Productivity Enhancement</a:t>
            </a:r>
            <a:endParaRPr lang="en-US" sz="1600" dirty="0"/>
          </a:p>
        </p:txBody>
      </p:sp>
      <p:sp>
        <p:nvSpPr>
          <p:cNvPr id="16" name="Text 13"/>
          <p:cNvSpPr/>
          <p:nvPr/>
        </p:nvSpPr>
        <p:spPr>
          <a:xfrm>
            <a:off x="4669155" y="2197100"/>
            <a:ext cx="3134995" cy="2891790"/>
          </a:xfrm>
          <a:prstGeom prst="rect">
            <a:avLst/>
          </a:prstGeom>
          <a:noFill/>
        </p:spPr>
        <p:txBody>
          <a:bodyPr wrap="square" lIns="91440" tIns="45720" rIns="91440" bIns="45720" rtlCol="0" anchor="t">
            <a:spAutoFit/>
          </a:bodyPr>
          <a:lstStyle/>
          <a:p>
            <a:pPr marL="285750" indent="-285750">
              <a:lnSpc>
                <a:spcPct val="100000"/>
              </a:lnSpc>
              <a:buFont typeface="Arial" panose="020B0604020202090204" pitchFamily="34" charset="0"/>
              <a:buChar char="•"/>
            </a:pPr>
            <a:r>
              <a:rPr lang="en-US" sz="1400" dirty="0">
                <a:solidFill>
                  <a:srgbClr val="000000"/>
                </a:solidFill>
                <a:latin typeface="MiSans" pitchFamily="34" charset="0"/>
                <a:ea typeface="MiSans" pitchFamily="34" charset="-122"/>
                <a:cs typeface="MiSans" pitchFamily="34" charset="-120"/>
              </a:rPr>
              <a:t>Crane operations benefit from significantly less idle time and reduced repositioning requirements, resulting in higher utilization rates. </a:t>
            </a:r>
            <a:endParaRPr lang="en-US" sz="1400" dirty="0">
              <a:solidFill>
                <a:srgbClr val="000000"/>
              </a:solidFill>
              <a:latin typeface="MiSans" pitchFamily="34" charset="0"/>
              <a:ea typeface="MiSans" pitchFamily="34" charset="-122"/>
              <a:cs typeface="MiSans" pitchFamily="34" charset="-120"/>
            </a:endParaRPr>
          </a:p>
          <a:p>
            <a:pPr marL="285750" indent="-285750">
              <a:lnSpc>
                <a:spcPct val="100000"/>
              </a:lnSpc>
              <a:buFont typeface="Arial" panose="020B0604020202090204" pitchFamily="34" charset="0"/>
              <a:buChar char="•"/>
            </a:pPr>
            <a:endParaRPr lang="en-US" sz="1400" dirty="0">
              <a:solidFill>
                <a:srgbClr val="000000"/>
              </a:solidFill>
              <a:latin typeface="MiSans" pitchFamily="34" charset="0"/>
              <a:ea typeface="MiSans" pitchFamily="34" charset="-122"/>
              <a:cs typeface="MiSans" pitchFamily="34" charset="-120"/>
            </a:endParaRPr>
          </a:p>
          <a:p>
            <a:pPr marL="285750" indent="-285750">
              <a:lnSpc>
                <a:spcPct val="100000"/>
              </a:lnSpc>
              <a:buFont typeface="Arial" panose="020B0604020202090204" pitchFamily="34" charset="0"/>
              <a:buChar char="•"/>
            </a:pPr>
            <a:r>
              <a:rPr lang="en-US" sz="1400" dirty="0">
                <a:solidFill>
                  <a:srgbClr val="000000"/>
                </a:solidFill>
                <a:latin typeface="MiSans" pitchFamily="34" charset="0"/>
                <a:ea typeface="MiSans" pitchFamily="34" charset="-122"/>
                <a:cs typeface="MiSans" pitchFamily="34" charset="-120"/>
              </a:rPr>
              <a:t>The simplified pick-and-drop methodology allows crane resources to serve more cycles per hour, increasing overall material handling capacity without additional equipment investment.</a:t>
            </a:r>
            <a:endParaRPr lang="en-US" sz="1400" dirty="0">
              <a:solidFill>
                <a:srgbClr val="000000"/>
              </a:solidFill>
              <a:latin typeface="MiSans" pitchFamily="34" charset="0"/>
              <a:ea typeface="MiSans" pitchFamily="34" charset="-122"/>
              <a:cs typeface="MiSans" pitchFamily="34" charset="-120"/>
            </a:endParaRPr>
          </a:p>
        </p:txBody>
      </p:sp>
      <p:sp>
        <p:nvSpPr>
          <p:cNvPr id="17" name="Text 14"/>
          <p:cNvSpPr/>
          <p:nvPr/>
        </p:nvSpPr>
        <p:spPr>
          <a:xfrm>
            <a:off x="8331200" y="1833880"/>
            <a:ext cx="2556510" cy="672465"/>
          </a:xfrm>
          <a:prstGeom prst="rect">
            <a:avLst/>
          </a:prstGeom>
          <a:noFill/>
        </p:spPr>
        <p:txBody>
          <a:bodyPr wrap="square" lIns="91440" tIns="45720" rIns="91440" bIns="4572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Space and Workflow Optimization</a:t>
            </a:r>
            <a:endParaRPr lang="en-US" sz="1600" dirty="0"/>
          </a:p>
        </p:txBody>
      </p:sp>
      <p:sp>
        <p:nvSpPr>
          <p:cNvPr id="18" name="Text 15"/>
          <p:cNvSpPr/>
          <p:nvPr/>
        </p:nvSpPr>
        <p:spPr>
          <a:xfrm>
            <a:off x="8202295" y="2593340"/>
            <a:ext cx="3252470" cy="2676525"/>
          </a:xfrm>
          <a:prstGeom prst="rect">
            <a:avLst/>
          </a:prstGeom>
          <a:noFill/>
        </p:spPr>
        <p:txBody>
          <a:bodyPr wrap="square" lIns="91440" tIns="45720" rIns="91440" bIns="45720" rtlCol="0" anchor="t">
            <a:spAutoFit/>
          </a:bodyPr>
          <a:lstStyle/>
          <a:p>
            <a:pPr marL="285750" indent="-285750">
              <a:lnSpc>
                <a:spcPct val="100000"/>
              </a:lnSpc>
              <a:buFont typeface="Arial" panose="020B0604020202090204" pitchFamily="34" charset="0"/>
              <a:buChar char="•"/>
            </a:pPr>
            <a:r>
              <a:rPr lang="en-US" sz="1400" dirty="0">
                <a:solidFill>
                  <a:srgbClr val="000000"/>
                </a:solidFill>
                <a:latin typeface="MiSans" pitchFamily="34" charset="0"/>
                <a:ea typeface="MiSans" pitchFamily="34" charset="-122"/>
                <a:cs typeface="MiSans" pitchFamily="34" charset="-120"/>
              </a:rPr>
              <a:t>The compact layout configuration reduces unnecessary movement while improving operational visibility and coordination across all assembly stations.</a:t>
            </a:r>
            <a:endParaRPr lang="en-US" sz="1400" dirty="0">
              <a:solidFill>
                <a:srgbClr val="000000"/>
              </a:solidFill>
              <a:latin typeface="MiSans" pitchFamily="34" charset="0"/>
              <a:ea typeface="MiSans" pitchFamily="34" charset="-122"/>
              <a:cs typeface="MiSans" pitchFamily="34" charset="-120"/>
            </a:endParaRPr>
          </a:p>
          <a:p>
            <a:pPr indent="0">
              <a:lnSpc>
                <a:spcPct val="100000"/>
              </a:lnSpc>
              <a:buFont typeface="Arial" panose="020B0604020202090204" pitchFamily="34" charset="0"/>
              <a:buNone/>
            </a:pPr>
            <a:r>
              <a:rPr lang="en-US" sz="1400" dirty="0">
                <a:solidFill>
                  <a:srgbClr val="000000"/>
                </a:solidFill>
                <a:latin typeface="MiSans" pitchFamily="34" charset="0"/>
                <a:ea typeface="MiSans" pitchFamily="34" charset="-122"/>
                <a:cs typeface="MiSans" pitchFamily="34" charset="-120"/>
              </a:rPr>
              <a:t> </a:t>
            </a:r>
            <a:endParaRPr lang="en-US" sz="1400" dirty="0">
              <a:solidFill>
                <a:srgbClr val="000000"/>
              </a:solidFill>
              <a:latin typeface="MiSans" pitchFamily="34" charset="0"/>
              <a:ea typeface="MiSans" pitchFamily="34" charset="-122"/>
              <a:cs typeface="MiSans" pitchFamily="34" charset="-120"/>
            </a:endParaRPr>
          </a:p>
          <a:p>
            <a:pPr marL="285750" indent="-285750">
              <a:lnSpc>
                <a:spcPct val="100000"/>
              </a:lnSpc>
              <a:buFont typeface="Arial" panose="020B0604020202090204" pitchFamily="34" charset="0"/>
              <a:buChar char="•"/>
            </a:pPr>
            <a:r>
              <a:rPr lang="en-US" sz="1400" dirty="0">
                <a:solidFill>
                  <a:srgbClr val="000000"/>
                </a:solidFill>
                <a:latin typeface="MiSans" pitchFamily="34" charset="0"/>
                <a:ea typeface="MiSans" pitchFamily="34" charset="-122"/>
                <a:cs typeface="MiSans" pitchFamily="34" charset="-120"/>
              </a:rPr>
              <a:t>Streamlined workflow ensures continuous production with minimal backtracking, establishing a foundation for lean manufacturing principles.</a:t>
            </a:r>
            <a:endParaRPr lang="en-US" sz="1400"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Shape 0"/>
          <p:cNvSpPr/>
          <p:nvPr/>
        </p:nvSpPr>
        <p:spPr>
          <a:xfrm>
            <a:off x="1487805" y="1603375"/>
            <a:ext cx="8989695" cy="1905635"/>
          </a:xfrm>
          <a:prstGeom prst="roundRect">
            <a:avLst>
              <a:gd name="adj" fmla="val 6321"/>
            </a:avLst>
          </a:prstGeom>
          <a:solidFill>
            <a:srgbClr val="FFFFFF"/>
          </a:solidFill>
          <a:ln w="25400">
            <a:solidFill>
              <a:srgbClr val="E6E6FD"/>
            </a:solidFill>
            <a:prstDash val="solid"/>
          </a:ln>
        </p:spPr>
      </p:sp>
      <p:sp>
        <p:nvSpPr>
          <p:cNvPr id="4" name="Shape 1"/>
          <p:cNvSpPr/>
          <p:nvPr/>
        </p:nvSpPr>
        <p:spPr>
          <a:xfrm>
            <a:off x="1487805" y="3849370"/>
            <a:ext cx="8989695" cy="1905635"/>
          </a:xfrm>
          <a:prstGeom prst="roundRect">
            <a:avLst>
              <a:gd name="adj" fmla="val 6321"/>
            </a:avLst>
          </a:prstGeom>
          <a:solidFill>
            <a:srgbClr val="FFFFFF"/>
          </a:solidFill>
          <a:ln w="25400">
            <a:solidFill>
              <a:srgbClr val="E6E6FD"/>
            </a:solidFill>
            <a:prstDash val="solid"/>
          </a:ln>
        </p:spPr>
      </p:sp>
      <p:pic>
        <p:nvPicPr>
          <p:cNvPr id="5" name="Image 1" descr="https://kimi-img.moonshot.cn/pub/slides/slides_tmpl/image/25-08-27-20:07:41-d2nfa398bjvh7rlj0gh0.png"/>
          <p:cNvPicPr>
            <a:picLocks noChangeAspect="1"/>
          </p:cNvPicPr>
          <p:nvPr/>
        </p:nvPicPr>
        <p:blipFill>
          <a:blip r:embed="rId2"/>
          <a:stretch>
            <a:fillRect/>
          </a:stretch>
        </p:blipFill>
        <p:spPr>
          <a:xfrm>
            <a:off x="1778000" y="1986280"/>
            <a:ext cx="7369810" cy="298450"/>
          </a:xfrm>
          <a:prstGeom prst="rect">
            <a:avLst/>
          </a:prstGeom>
        </p:spPr>
      </p:pic>
      <p:pic>
        <p:nvPicPr>
          <p:cNvPr id="6" name="Image 2" descr="https://kimi-img.moonshot.cn/pub/slides/slides_tmpl/image/25-08-27-20:07:41-d2nfa398bjvh7rlj0gh0.png"/>
          <p:cNvPicPr>
            <a:picLocks noChangeAspect="1"/>
          </p:cNvPicPr>
          <p:nvPr/>
        </p:nvPicPr>
        <p:blipFill>
          <a:blip r:embed="rId2"/>
          <a:stretch>
            <a:fillRect/>
          </a:stretch>
        </p:blipFill>
        <p:spPr>
          <a:xfrm>
            <a:off x="1778000" y="4220845"/>
            <a:ext cx="7369810" cy="298450"/>
          </a:xfrm>
          <a:prstGeom prst="rect">
            <a:avLst/>
          </a:prstGeom>
        </p:spPr>
      </p:pic>
      <p:sp>
        <p:nvSpPr>
          <p:cNvPr id="7" name="Text 2"/>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Worker Productivity and Morale Enhancement</a:t>
            </a:r>
            <a:endParaRPr lang="en-US" sz="1600" dirty="0"/>
          </a:p>
        </p:txBody>
      </p:sp>
      <p:sp>
        <p:nvSpPr>
          <p:cNvPr id="8" name="Text 3"/>
          <p:cNvSpPr/>
          <p:nvPr/>
        </p:nvSpPr>
        <p:spPr>
          <a:xfrm>
            <a:off x="1737995" y="1732280"/>
            <a:ext cx="7792085"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Fatigue Reduction</a:t>
            </a:r>
            <a:endParaRPr lang="en-US" sz="1600" dirty="0"/>
          </a:p>
        </p:txBody>
      </p:sp>
      <p:sp>
        <p:nvSpPr>
          <p:cNvPr id="9" name="Text 4"/>
          <p:cNvSpPr/>
          <p:nvPr/>
        </p:nvSpPr>
        <p:spPr>
          <a:xfrm>
            <a:off x="1718945" y="2205355"/>
            <a:ext cx="8404225" cy="1468755"/>
          </a:xfrm>
          <a:prstGeom prst="rect">
            <a:avLst/>
          </a:prstGeom>
          <a:noFill/>
        </p:spPr>
        <p:txBody>
          <a:bodyPr wrap="square" lIns="91440" tIns="45720" rIns="91440" bIns="45720" rtlCol="0" anchor="t">
            <a:spAutoFit/>
          </a:bodyPr>
          <a:lstStyle/>
          <a:p>
            <a:pPr marL="285750" indent="-285750">
              <a:lnSpc>
                <a:spcPct val="140000"/>
              </a:lnSpc>
              <a:buFont typeface="Arial" panose="020B0604020202090204" pitchFamily="34" charset="0"/>
              <a:buChar char="•"/>
            </a:pPr>
            <a:r>
              <a:rPr lang="en-US" sz="1600" dirty="0">
                <a:solidFill>
                  <a:srgbClr val="000000"/>
                </a:solidFill>
                <a:latin typeface="MiSans" pitchFamily="34" charset="0"/>
                <a:ea typeface="MiSans" pitchFamily="34" charset="-122"/>
                <a:cs typeface="MiSans" pitchFamily="34" charset="-120"/>
              </a:rPr>
              <a:t>The redesigned layout reduces both physical and mental fatigue through optimized material flow and elimination of excessive travel distances.</a:t>
            </a:r>
            <a:endParaRPr lang="en-US" sz="1600" dirty="0">
              <a:solidFill>
                <a:srgbClr val="000000"/>
              </a:solidFill>
              <a:latin typeface="MiSans" pitchFamily="34" charset="0"/>
              <a:ea typeface="MiSans" pitchFamily="34" charset="-122"/>
              <a:cs typeface="MiSans" pitchFamily="34" charset="-120"/>
            </a:endParaRPr>
          </a:p>
          <a:p>
            <a:pPr marL="285750" indent="-285750">
              <a:lnSpc>
                <a:spcPct val="140000"/>
              </a:lnSpc>
              <a:buFont typeface="Arial" panose="020B0604020202090204" pitchFamily="34" charset="0"/>
              <a:buChar char="•"/>
            </a:pPr>
            <a:r>
              <a:rPr lang="en-US" sz="1600" dirty="0">
                <a:solidFill>
                  <a:srgbClr val="000000"/>
                </a:solidFill>
                <a:latin typeface="MiSans" pitchFamily="34" charset="0"/>
                <a:ea typeface="MiSans" pitchFamily="34" charset="-122"/>
                <a:cs typeface="MiSans" pitchFamily="34" charset="-120"/>
              </a:rPr>
              <a:t> Workers experience less exhaustion from navigating poorly arranged spaces, enabling them to maintain higher performance levels throughout their shifts.</a:t>
            </a:r>
            <a:endParaRPr lang="en-US" sz="1600" dirty="0"/>
          </a:p>
        </p:txBody>
      </p:sp>
      <p:sp>
        <p:nvSpPr>
          <p:cNvPr id="10" name="Text 5"/>
          <p:cNvSpPr/>
          <p:nvPr/>
        </p:nvSpPr>
        <p:spPr>
          <a:xfrm>
            <a:off x="1737995" y="3978275"/>
            <a:ext cx="7792085" cy="367665"/>
          </a:xfrm>
          <a:prstGeom prst="rect">
            <a:avLst/>
          </a:prstGeom>
          <a:noFill/>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Sustained Performance Support</a:t>
            </a:r>
            <a:endParaRPr lang="en-US" sz="1600" dirty="0"/>
          </a:p>
        </p:txBody>
      </p:sp>
      <p:sp>
        <p:nvSpPr>
          <p:cNvPr id="11" name="Text 6"/>
          <p:cNvSpPr/>
          <p:nvPr/>
        </p:nvSpPr>
        <p:spPr>
          <a:xfrm>
            <a:off x="1718945" y="4451350"/>
            <a:ext cx="8404225" cy="1812925"/>
          </a:xfrm>
          <a:prstGeom prst="rect">
            <a:avLst/>
          </a:prstGeom>
          <a:noFill/>
        </p:spPr>
        <p:txBody>
          <a:bodyPr wrap="square" lIns="91440" tIns="45720" rIns="91440" bIns="45720" rtlCol="0" anchor="t">
            <a:spAutoFit/>
          </a:bodyPr>
          <a:lstStyle/>
          <a:p>
            <a:pPr marL="285750" indent="-285750">
              <a:lnSpc>
                <a:spcPct val="140000"/>
              </a:lnSpc>
              <a:buFont typeface="Arial" panose="020B0604020202090204" pitchFamily="34" charset="0"/>
              <a:buChar char="•"/>
            </a:pPr>
            <a:r>
              <a:rPr lang="en-US" sz="1600" dirty="0">
                <a:solidFill>
                  <a:srgbClr val="000000"/>
                </a:solidFill>
                <a:latin typeface="MiSans" pitchFamily="34" charset="0"/>
                <a:ea typeface="MiSans" pitchFamily="34" charset="-122"/>
                <a:cs typeface="MiSans" pitchFamily="34" charset="-120"/>
              </a:rPr>
              <a:t>The recreational zone provides essential infrastructure for short recovery breaks and morale improvement, creating conditions for sustained productivity over extended shifts. </a:t>
            </a:r>
            <a:endParaRPr lang="en-US" sz="1600" dirty="0">
              <a:solidFill>
                <a:srgbClr val="000000"/>
              </a:solidFill>
              <a:latin typeface="MiSans" pitchFamily="34" charset="0"/>
              <a:ea typeface="MiSans" pitchFamily="34" charset="-122"/>
              <a:cs typeface="MiSans" pitchFamily="34" charset="-120"/>
            </a:endParaRPr>
          </a:p>
          <a:p>
            <a:pPr marL="285750" indent="-285750">
              <a:lnSpc>
                <a:spcPct val="140000"/>
              </a:lnSpc>
              <a:buFont typeface="Arial" panose="020B0604020202090204" pitchFamily="34" charset="0"/>
              <a:buChar char="•"/>
            </a:pPr>
            <a:r>
              <a:rPr lang="en-US" sz="1600" dirty="0">
                <a:solidFill>
                  <a:srgbClr val="000000"/>
                </a:solidFill>
                <a:latin typeface="MiSans" pitchFamily="34" charset="0"/>
                <a:ea typeface="MiSans" pitchFamily="34" charset="-122"/>
                <a:cs typeface="MiSans" pitchFamily="34" charset="-120"/>
              </a:rPr>
              <a:t>When workers have access to quality rest facilities, they demonstrate improved focus, reduced error rates, and higher engagement with production tasks.</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pic>
        <p:nvPicPr>
          <p:cNvPr id="3" name="Image 1" descr="https://kimi-img.moonshot.cn/pub/slides/slides_tmpl/image/25-08-27-20:07:40-d2nfa318bjvh7rlj0gfg.jpg"/>
          <p:cNvPicPr>
            <a:picLocks noChangeAspect="1"/>
          </p:cNvPicPr>
          <p:nvPr/>
        </p:nvPicPr>
        <p:blipFill>
          <a:blip r:embed="rId2"/>
          <a:srcRect t="3" b="3"/>
          <a:stretch>
            <a:fillRect/>
          </a:stretch>
        </p:blipFill>
        <p:spPr>
          <a:xfrm>
            <a:off x="0" y="0"/>
            <a:ext cx="12214225" cy="6953885"/>
          </a:xfrm>
          <a:prstGeom prst="rect">
            <a:avLst/>
          </a:prstGeom>
        </p:spPr>
      </p:pic>
      <p:sp>
        <p:nvSpPr>
          <p:cNvPr id="4" name="Text 0"/>
          <p:cNvSpPr/>
          <p:nvPr/>
        </p:nvSpPr>
        <p:spPr>
          <a:xfrm>
            <a:off x="649605" y="1609090"/>
            <a:ext cx="6096000" cy="1323340"/>
          </a:xfrm>
          <a:prstGeom prst="rect">
            <a:avLst/>
          </a:prstGeom>
          <a:noFill/>
        </p:spPr>
        <p:txBody>
          <a:bodyPr wrap="square" lIns="91440" tIns="45720" rIns="91440" bIns="45720" rtlCol="0" anchor="t">
            <a:spAutoFit/>
          </a:bodyPr>
          <a:lstStyle/>
          <a:p>
            <a:pPr>
              <a:lnSpc>
                <a:spcPct val="100000"/>
              </a:lnSpc>
            </a:pPr>
            <a:r>
              <a:rPr lang="en-US" sz="8000" b="1" dirty="0">
                <a:solidFill>
                  <a:srgbClr val="000000"/>
                </a:solidFill>
                <a:latin typeface="MiSans" pitchFamily="34" charset="0"/>
                <a:ea typeface="MiSans" pitchFamily="34" charset="-122"/>
                <a:cs typeface="MiSans" pitchFamily="34" charset="-120"/>
              </a:rPr>
              <a:t>04</a:t>
            </a:r>
            <a:endParaRPr lang="en-US" sz="1600" dirty="0"/>
          </a:p>
        </p:txBody>
      </p:sp>
      <p:sp>
        <p:nvSpPr>
          <p:cNvPr id="5" name="Text 1"/>
          <p:cNvSpPr/>
          <p:nvPr/>
        </p:nvSpPr>
        <p:spPr>
          <a:xfrm>
            <a:off x="649605" y="2985135"/>
            <a:ext cx="8241665" cy="828040"/>
          </a:xfrm>
          <a:prstGeom prst="rect">
            <a:avLst/>
          </a:prstGeom>
          <a:noFill/>
        </p:spPr>
        <p:txBody>
          <a:bodyPr wrap="square" lIns="91440" tIns="45720" rIns="91440" bIns="45720" rtlCol="0" anchor="t">
            <a:spAutoFit/>
          </a:bodyPr>
          <a:lstStyle/>
          <a:p>
            <a:pPr>
              <a:lnSpc>
                <a:spcPct val="100000"/>
              </a:lnSpc>
            </a:pPr>
            <a:r>
              <a:rPr lang="en-US" sz="4800" b="1" dirty="0">
                <a:solidFill>
                  <a:srgbClr val="404040"/>
                </a:solidFill>
                <a:latin typeface="MiSans" pitchFamily="34" charset="0"/>
                <a:ea typeface="MiSans" pitchFamily="34" charset="-122"/>
                <a:cs typeface="MiSans" pitchFamily="34" charset="-120"/>
              </a:rPr>
              <a:t>Implementation Strategy</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Implementation Challenges Assessment</a:t>
            </a:r>
            <a:endParaRPr lang="en-US" sz="1600" dirty="0"/>
          </a:p>
        </p:txBody>
      </p:sp>
      <p:sp>
        <p:nvSpPr>
          <p:cNvPr id="4" name="Shape 1"/>
          <p:cNvSpPr/>
          <p:nvPr/>
        </p:nvSpPr>
        <p:spPr>
          <a:xfrm>
            <a:off x="-14605" y="2310130"/>
            <a:ext cx="12237085" cy="4582795"/>
          </a:xfrm>
          <a:prstGeom prst="rect">
            <a:avLst/>
          </a:prstGeom>
          <a:solidFill>
            <a:srgbClr val="E6E6FD"/>
          </a:solidFill>
        </p:spPr>
      </p:sp>
      <p:sp>
        <p:nvSpPr>
          <p:cNvPr id="5" name="Shape 2"/>
          <p:cNvSpPr/>
          <p:nvPr/>
        </p:nvSpPr>
        <p:spPr>
          <a:xfrm>
            <a:off x="7201313" y="1969179"/>
            <a:ext cx="637958" cy="637956"/>
          </a:xfrm>
          <a:prstGeom prst="ellipse">
            <a:avLst/>
          </a:prstGeom>
          <a:solidFill>
            <a:srgbClr val="E1ADFD"/>
          </a:solidFill>
        </p:spPr>
      </p:sp>
      <p:sp>
        <p:nvSpPr>
          <p:cNvPr id="6" name="Shape 3"/>
          <p:cNvSpPr/>
          <p:nvPr/>
        </p:nvSpPr>
        <p:spPr>
          <a:xfrm>
            <a:off x="9983883" y="1969179"/>
            <a:ext cx="637958" cy="637956"/>
          </a:xfrm>
          <a:prstGeom prst="ellipse">
            <a:avLst/>
          </a:prstGeom>
          <a:solidFill>
            <a:srgbClr val="E1ADFD"/>
          </a:solidFill>
        </p:spPr>
      </p:sp>
      <p:sp>
        <p:nvSpPr>
          <p:cNvPr id="7" name="Shape 4"/>
          <p:cNvSpPr/>
          <p:nvPr/>
        </p:nvSpPr>
        <p:spPr>
          <a:xfrm>
            <a:off x="4414933" y="1968544"/>
            <a:ext cx="637958" cy="637956"/>
          </a:xfrm>
          <a:prstGeom prst="ellipse">
            <a:avLst/>
          </a:prstGeom>
          <a:solidFill>
            <a:srgbClr val="E1ADFD"/>
          </a:solidFill>
        </p:spPr>
      </p:sp>
      <p:sp>
        <p:nvSpPr>
          <p:cNvPr id="8" name="Shape 5"/>
          <p:cNvSpPr/>
          <p:nvPr/>
        </p:nvSpPr>
        <p:spPr>
          <a:xfrm>
            <a:off x="1602518" y="1968544"/>
            <a:ext cx="637958" cy="637956"/>
          </a:xfrm>
          <a:prstGeom prst="ellipse">
            <a:avLst/>
          </a:prstGeom>
          <a:solidFill>
            <a:srgbClr val="E1ADFD"/>
          </a:solidFill>
        </p:spPr>
      </p:sp>
      <p:sp>
        <p:nvSpPr>
          <p:cNvPr id="9" name="Shape 6"/>
          <p:cNvSpPr/>
          <p:nvPr/>
        </p:nvSpPr>
        <p:spPr>
          <a:xfrm>
            <a:off x="779721" y="6270738"/>
            <a:ext cx="0" cy="125950"/>
          </a:xfrm>
          <a:prstGeom prst="line">
            <a:avLst/>
          </a:prstGeom>
          <a:noFill/>
          <a:ln w="12700">
            <a:solidFill>
              <a:srgbClr val="FFFFFF"/>
            </a:solidFill>
            <a:prstDash val="solid"/>
            <a:headEnd type="none"/>
            <a:tailEnd type="none"/>
          </a:ln>
        </p:spPr>
      </p:sp>
      <p:sp>
        <p:nvSpPr>
          <p:cNvPr id="10" name="Shape 7"/>
          <p:cNvSpPr/>
          <p:nvPr/>
        </p:nvSpPr>
        <p:spPr>
          <a:xfrm>
            <a:off x="867722" y="6270738"/>
            <a:ext cx="0" cy="125950"/>
          </a:xfrm>
          <a:prstGeom prst="line">
            <a:avLst/>
          </a:prstGeom>
          <a:noFill/>
          <a:ln w="12700">
            <a:solidFill>
              <a:srgbClr val="FFFFFF"/>
            </a:solidFill>
            <a:prstDash val="solid"/>
            <a:headEnd type="none"/>
            <a:tailEnd type="none"/>
          </a:ln>
        </p:spPr>
      </p:sp>
      <p:sp>
        <p:nvSpPr>
          <p:cNvPr id="11" name="Shape 8"/>
          <p:cNvSpPr/>
          <p:nvPr/>
        </p:nvSpPr>
        <p:spPr>
          <a:xfrm>
            <a:off x="955722" y="6166356"/>
            <a:ext cx="0" cy="220414"/>
          </a:xfrm>
          <a:prstGeom prst="line">
            <a:avLst/>
          </a:prstGeom>
          <a:noFill/>
          <a:ln w="12700">
            <a:solidFill>
              <a:srgbClr val="FFFFFF"/>
            </a:solidFill>
            <a:prstDash val="solid"/>
            <a:headEnd type="none"/>
            <a:tailEnd type="none"/>
          </a:ln>
        </p:spPr>
      </p:sp>
      <p:sp>
        <p:nvSpPr>
          <p:cNvPr id="12" name="Shape 9"/>
          <p:cNvSpPr/>
          <p:nvPr/>
        </p:nvSpPr>
        <p:spPr>
          <a:xfrm>
            <a:off x="1043723" y="6270738"/>
            <a:ext cx="0" cy="125950"/>
          </a:xfrm>
          <a:prstGeom prst="line">
            <a:avLst/>
          </a:prstGeom>
          <a:noFill/>
          <a:ln w="12700">
            <a:solidFill>
              <a:srgbClr val="FFFFFF"/>
            </a:solidFill>
            <a:prstDash val="solid"/>
            <a:headEnd type="none"/>
            <a:tailEnd type="none"/>
          </a:ln>
        </p:spPr>
      </p:sp>
      <p:sp>
        <p:nvSpPr>
          <p:cNvPr id="13" name="Shape 10"/>
          <p:cNvSpPr/>
          <p:nvPr/>
        </p:nvSpPr>
        <p:spPr>
          <a:xfrm>
            <a:off x="1131723" y="6270738"/>
            <a:ext cx="0" cy="125950"/>
          </a:xfrm>
          <a:prstGeom prst="line">
            <a:avLst/>
          </a:prstGeom>
          <a:noFill/>
          <a:ln w="12700">
            <a:solidFill>
              <a:srgbClr val="FFFFFF"/>
            </a:solidFill>
            <a:prstDash val="solid"/>
            <a:headEnd type="none"/>
            <a:tailEnd type="none"/>
          </a:ln>
        </p:spPr>
      </p:sp>
      <p:sp>
        <p:nvSpPr>
          <p:cNvPr id="14" name="Shape 11"/>
          <p:cNvSpPr/>
          <p:nvPr/>
        </p:nvSpPr>
        <p:spPr>
          <a:xfrm>
            <a:off x="10796832" y="6396446"/>
            <a:ext cx="116844" cy="116844"/>
          </a:xfrm>
          <a:prstGeom prst="ellipse">
            <a:avLst/>
          </a:prstGeom>
          <a:solidFill>
            <a:srgbClr val="FFFFFF"/>
          </a:solidFill>
        </p:spPr>
      </p:sp>
      <p:sp>
        <p:nvSpPr>
          <p:cNvPr id="15" name="Shape 12"/>
          <p:cNvSpPr/>
          <p:nvPr/>
        </p:nvSpPr>
        <p:spPr>
          <a:xfrm>
            <a:off x="10989337" y="6396446"/>
            <a:ext cx="116844" cy="116844"/>
          </a:xfrm>
          <a:prstGeom prst="ellipse">
            <a:avLst/>
          </a:prstGeom>
          <a:solidFill>
            <a:srgbClr val="FFFFFF">
              <a:alpha val="56471"/>
            </a:srgbClr>
          </a:solidFill>
        </p:spPr>
      </p:sp>
      <p:sp>
        <p:nvSpPr>
          <p:cNvPr id="16" name="Shape 13"/>
          <p:cNvSpPr/>
          <p:nvPr/>
        </p:nvSpPr>
        <p:spPr>
          <a:xfrm>
            <a:off x="11186107" y="6396446"/>
            <a:ext cx="116844" cy="116844"/>
          </a:xfrm>
          <a:prstGeom prst="ellipse">
            <a:avLst/>
          </a:prstGeom>
          <a:solidFill>
            <a:srgbClr val="FFFFFF"/>
          </a:solidFill>
        </p:spPr>
      </p:sp>
      <p:sp>
        <p:nvSpPr>
          <p:cNvPr id="17" name="Shape 14"/>
          <p:cNvSpPr/>
          <p:nvPr/>
        </p:nvSpPr>
        <p:spPr>
          <a:xfrm>
            <a:off x="11382877" y="6396446"/>
            <a:ext cx="116844" cy="116844"/>
          </a:xfrm>
          <a:prstGeom prst="ellipse">
            <a:avLst/>
          </a:prstGeom>
          <a:solidFill>
            <a:srgbClr val="FFFFFF">
              <a:alpha val="56471"/>
            </a:srgbClr>
          </a:solidFill>
        </p:spPr>
      </p:sp>
      <p:sp>
        <p:nvSpPr>
          <p:cNvPr id="18" name="Shape 15"/>
          <p:cNvSpPr/>
          <p:nvPr/>
        </p:nvSpPr>
        <p:spPr>
          <a:xfrm>
            <a:off x="1538592" y="2128454"/>
            <a:ext cx="765810" cy="340360"/>
          </a:xfrm>
          <a:prstGeom prst="rect">
            <a:avLst/>
          </a:prstGeom>
          <a:solidFill>
            <a:srgbClr val="000000">
              <a:alpha val="0"/>
            </a:srgbClr>
          </a:solidFill>
        </p:spPr>
      </p:sp>
      <p:sp>
        <p:nvSpPr>
          <p:cNvPr id="19" name="Text 16"/>
          <p:cNvSpPr/>
          <p:nvPr/>
        </p:nvSpPr>
        <p:spPr>
          <a:xfrm>
            <a:off x="1538592" y="2128454"/>
            <a:ext cx="765810" cy="340360"/>
          </a:xfrm>
          <a:prstGeom prst="rect">
            <a:avLst/>
          </a:prstGeom>
          <a:noFill/>
        </p:spPr>
        <p:txBody>
          <a:bodyPr wrap="square" lIns="0" tIns="0" rIns="0" bIns="0" rtlCol="0" anchor="t"/>
          <a:lstStyle/>
          <a:p>
            <a:pPr algn="ctr">
              <a:lnSpc>
                <a:spcPct val="100000"/>
              </a:lnSpc>
            </a:pPr>
            <a:r>
              <a:rPr lang="en-US" sz="1800" dirty="0">
                <a:solidFill>
                  <a:srgbClr val="FFFFFF"/>
                </a:solidFill>
                <a:latin typeface="MiSans" pitchFamily="34" charset="0"/>
                <a:ea typeface="MiSans" pitchFamily="34" charset="-122"/>
                <a:cs typeface="MiSans" pitchFamily="34" charset="-120"/>
              </a:rPr>
              <a:t>01</a:t>
            </a:r>
            <a:endParaRPr lang="en-US" sz="1600" dirty="0"/>
          </a:p>
        </p:txBody>
      </p:sp>
      <p:sp>
        <p:nvSpPr>
          <p:cNvPr id="20" name="Text 17"/>
          <p:cNvSpPr/>
          <p:nvPr/>
        </p:nvSpPr>
        <p:spPr>
          <a:xfrm>
            <a:off x="897888" y="2741527"/>
            <a:ext cx="2087248" cy="581025"/>
          </a:xfrm>
          <a:prstGeom prst="rect">
            <a:avLst/>
          </a:prstGeom>
          <a:noFill/>
        </p:spPr>
        <p:txBody>
          <a:bodyPr wrap="square" lIns="0" tIns="0" rIns="0" bIns="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Relocation Constraints</a:t>
            </a:r>
            <a:endParaRPr lang="en-US" sz="1600" dirty="0"/>
          </a:p>
        </p:txBody>
      </p:sp>
      <p:sp>
        <p:nvSpPr>
          <p:cNvPr id="21" name="Text 18"/>
          <p:cNvSpPr/>
          <p:nvPr/>
        </p:nvSpPr>
        <p:spPr>
          <a:xfrm>
            <a:off x="793750" y="3383915"/>
            <a:ext cx="2619375" cy="3134360"/>
          </a:xfrm>
          <a:prstGeom prst="rect">
            <a:avLst/>
          </a:prstGeom>
          <a:noFill/>
        </p:spPr>
        <p:txBody>
          <a:bodyPr wrap="square" lIns="45720" tIns="45720" rIns="45720" bIns="45720" rtlCol="0" anchor="t"/>
          <a:lstStyle/>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Moving the wheel press section presents operational challenges including temporary production disruption during the physical move and subsequent equipment recalibration requirements.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These activities demand careful scheduling to minimize impact on customer delivery commitments.</a:t>
            </a:r>
            <a:endParaRPr lang="en-US" sz="1200" dirty="0">
              <a:solidFill>
                <a:srgbClr val="000000"/>
              </a:solidFill>
              <a:latin typeface="MiSans" pitchFamily="34" charset="0"/>
              <a:ea typeface="MiSans" pitchFamily="34" charset="-122"/>
              <a:cs typeface="MiSans" pitchFamily="34" charset="-120"/>
            </a:endParaRPr>
          </a:p>
        </p:txBody>
      </p:sp>
      <p:sp>
        <p:nvSpPr>
          <p:cNvPr id="22" name="Shape 19"/>
          <p:cNvSpPr/>
          <p:nvPr/>
        </p:nvSpPr>
        <p:spPr>
          <a:xfrm>
            <a:off x="4351655" y="2121535"/>
            <a:ext cx="765810" cy="340360"/>
          </a:xfrm>
          <a:prstGeom prst="rect">
            <a:avLst/>
          </a:prstGeom>
          <a:solidFill>
            <a:srgbClr val="000000">
              <a:alpha val="0"/>
            </a:srgbClr>
          </a:solidFill>
        </p:spPr>
      </p:sp>
      <p:sp>
        <p:nvSpPr>
          <p:cNvPr id="23" name="Text 20"/>
          <p:cNvSpPr/>
          <p:nvPr/>
        </p:nvSpPr>
        <p:spPr>
          <a:xfrm>
            <a:off x="4351655" y="2121535"/>
            <a:ext cx="765810" cy="340360"/>
          </a:xfrm>
          <a:prstGeom prst="rect">
            <a:avLst/>
          </a:prstGeom>
          <a:noFill/>
        </p:spPr>
        <p:txBody>
          <a:bodyPr wrap="square" lIns="0" tIns="0" rIns="0" bIns="0" rtlCol="0" anchor="t"/>
          <a:lstStyle/>
          <a:p>
            <a:pPr algn="ctr">
              <a:lnSpc>
                <a:spcPct val="100000"/>
              </a:lnSpc>
            </a:pPr>
            <a:r>
              <a:rPr lang="en-US" sz="1800" dirty="0">
                <a:solidFill>
                  <a:srgbClr val="FFFFFF"/>
                </a:solidFill>
                <a:latin typeface="MiSans" pitchFamily="34" charset="0"/>
                <a:ea typeface="MiSans" pitchFamily="34" charset="-122"/>
                <a:cs typeface="MiSans" pitchFamily="34" charset="-120"/>
              </a:rPr>
              <a:t>02</a:t>
            </a:r>
            <a:endParaRPr lang="en-US" sz="1600" dirty="0"/>
          </a:p>
        </p:txBody>
      </p:sp>
      <p:sp>
        <p:nvSpPr>
          <p:cNvPr id="24" name="Text 21"/>
          <p:cNvSpPr/>
          <p:nvPr/>
        </p:nvSpPr>
        <p:spPr>
          <a:xfrm>
            <a:off x="3665221" y="2741527"/>
            <a:ext cx="2087245" cy="581025"/>
          </a:xfrm>
          <a:prstGeom prst="rect">
            <a:avLst/>
          </a:prstGeom>
          <a:noFill/>
        </p:spPr>
        <p:txBody>
          <a:bodyPr wrap="square" lIns="0" tIns="0" rIns="0" bIns="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Fixed Warehouse Position</a:t>
            </a:r>
            <a:endParaRPr lang="en-US" sz="1600" dirty="0"/>
          </a:p>
        </p:txBody>
      </p:sp>
      <p:sp>
        <p:nvSpPr>
          <p:cNvPr id="25" name="Text 22"/>
          <p:cNvSpPr/>
          <p:nvPr/>
        </p:nvSpPr>
        <p:spPr>
          <a:xfrm>
            <a:off x="3594735" y="3383915"/>
            <a:ext cx="2620010" cy="2489200"/>
          </a:xfrm>
          <a:prstGeom prst="rect">
            <a:avLst/>
          </a:prstGeom>
          <a:noFill/>
        </p:spPr>
        <p:txBody>
          <a:bodyPr wrap="square" lIns="45720" tIns="45720" rIns="45720" bIns="45720" rtlCol="0" anchor="t">
            <a:spAutoFit/>
          </a:bodyPr>
          <a:lstStyle/>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 warehouse location remains unchanged to avoid major cost implications and prevent disruption to established supply chain and distribution networks.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This constraint requires the wheel press to relocate toward the warehouse rather than repositioning both elements.</a:t>
            </a:r>
            <a:endParaRPr lang="en-US" sz="1200" dirty="0">
              <a:solidFill>
                <a:srgbClr val="000000"/>
              </a:solidFill>
              <a:latin typeface="MiSans" pitchFamily="34" charset="0"/>
              <a:ea typeface="MiSans" pitchFamily="34" charset="-122"/>
              <a:cs typeface="MiSans" pitchFamily="34" charset="-120"/>
            </a:endParaRPr>
          </a:p>
        </p:txBody>
      </p:sp>
      <p:sp>
        <p:nvSpPr>
          <p:cNvPr id="26" name="Shape 23"/>
          <p:cNvSpPr/>
          <p:nvPr/>
        </p:nvSpPr>
        <p:spPr>
          <a:xfrm>
            <a:off x="7136130" y="2121535"/>
            <a:ext cx="765810" cy="340360"/>
          </a:xfrm>
          <a:prstGeom prst="rect">
            <a:avLst/>
          </a:prstGeom>
          <a:solidFill>
            <a:srgbClr val="000000">
              <a:alpha val="0"/>
            </a:srgbClr>
          </a:solidFill>
        </p:spPr>
      </p:sp>
      <p:sp>
        <p:nvSpPr>
          <p:cNvPr id="27" name="Text 24"/>
          <p:cNvSpPr/>
          <p:nvPr/>
        </p:nvSpPr>
        <p:spPr>
          <a:xfrm>
            <a:off x="7136130" y="2121535"/>
            <a:ext cx="765810" cy="340360"/>
          </a:xfrm>
          <a:prstGeom prst="rect">
            <a:avLst/>
          </a:prstGeom>
          <a:noFill/>
        </p:spPr>
        <p:txBody>
          <a:bodyPr wrap="square" lIns="0" tIns="0" rIns="0" bIns="0" rtlCol="0" anchor="t"/>
          <a:lstStyle/>
          <a:p>
            <a:pPr algn="ctr">
              <a:lnSpc>
                <a:spcPct val="100000"/>
              </a:lnSpc>
            </a:pPr>
            <a:r>
              <a:rPr lang="en-US" sz="1800" dirty="0">
                <a:solidFill>
                  <a:srgbClr val="FFFFFF"/>
                </a:solidFill>
                <a:latin typeface="MiSans" pitchFamily="34" charset="0"/>
                <a:ea typeface="MiSans" pitchFamily="34" charset="-122"/>
                <a:cs typeface="MiSans" pitchFamily="34" charset="-120"/>
              </a:rPr>
              <a:t>03</a:t>
            </a:r>
            <a:endParaRPr lang="en-US" sz="1600" dirty="0"/>
          </a:p>
        </p:txBody>
      </p:sp>
      <p:sp>
        <p:nvSpPr>
          <p:cNvPr id="28" name="Text 25"/>
          <p:cNvSpPr/>
          <p:nvPr/>
        </p:nvSpPr>
        <p:spPr>
          <a:xfrm>
            <a:off x="6143625" y="2719070"/>
            <a:ext cx="2923540" cy="553720"/>
          </a:xfrm>
          <a:prstGeom prst="rect">
            <a:avLst/>
          </a:prstGeom>
          <a:noFill/>
        </p:spPr>
        <p:txBody>
          <a:bodyPr wrap="square" lIns="0" tIns="0" rIns="0" bIns="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Temporary Production Downtime</a:t>
            </a:r>
            <a:endParaRPr lang="en-US" sz="1600" dirty="0"/>
          </a:p>
        </p:txBody>
      </p:sp>
      <p:sp>
        <p:nvSpPr>
          <p:cNvPr id="29" name="Text 26"/>
          <p:cNvSpPr/>
          <p:nvPr/>
        </p:nvSpPr>
        <p:spPr>
          <a:xfrm>
            <a:off x="6361777" y="3362326"/>
            <a:ext cx="2273002" cy="2729230"/>
          </a:xfrm>
          <a:prstGeom prst="rect">
            <a:avLst/>
          </a:prstGeom>
          <a:noFill/>
        </p:spPr>
        <p:txBody>
          <a:bodyPr wrap="square" lIns="45720" tIns="45720" rIns="45720" bIns="45720" rtlCol="0" anchor="t">
            <a:spAutoFit/>
          </a:bodyPr>
          <a:lstStyle/>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Layout restructuring activities will inevitably cause short-term productivity loss during the transition period.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This downtime must be accounted for in production planning and customer communication to maintain business relationships.</a:t>
            </a:r>
            <a:endParaRPr lang="en-US" sz="1200" dirty="0">
              <a:solidFill>
                <a:srgbClr val="000000"/>
              </a:solidFill>
              <a:latin typeface="MiSans" pitchFamily="34" charset="0"/>
              <a:ea typeface="MiSans" pitchFamily="34" charset="-122"/>
              <a:cs typeface="MiSans" pitchFamily="34" charset="-120"/>
            </a:endParaRPr>
          </a:p>
        </p:txBody>
      </p:sp>
      <p:sp>
        <p:nvSpPr>
          <p:cNvPr id="30" name="Shape 27"/>
          <p:cNvSpPr/>
          <p:nvPr/>
        </p:nvSpPr>
        <p:spPr>
          <a:xfrm>
            <a:off x="9936480" y="2121535"/>
            <a:ext cx="765810" cy="340360"/>
          </a:xfrm>
          <a:prstGeom prst="rect">
            <a:avLst/>
          </a:prstGeom>
          <a:solidFill>
            <a:srgbClr val="000000">
              <a:alpha val="0"/>
            </a:srgbClr>
          </a:solidFill>
        </p:spPr>
      </p:sp>
      <p:sp>
        <p:nvSpPr>
          <p:cNvPr id="31" name="Text 28"/>
          <p:cNvSpPr/>
          <p:nvPr/>
        </p:nvSpPr>
        <p:spPr>
          <a:xfrm>
            <a:off x="9936480" y="2121535"/>
            <a:ext cx="765810" cy="340360"/>
          </a:xfrm>
          <a:prstGeom prst="rect">
            <a:avLst/>
          </a:prstGeom>
          <a:noFill/>
        </p:spPr>
        <p:txBody>
          <a:bodyPr wrap="square" lIns="0" tIns="0" rIns="0" bIns="0" rtlCol="0" anchor="t"/>
          <a:lstStyle/>
          <a:p>
            <a:pPr algn="ctr">
              <a:lnSpc>
                <a:spcPct val="100000"/>
              </a:lnSpc>
            </a:pPr>
            <a:r>
              <a:rPr lang="en-US" sz="1800" dirty="0">
                <a:solidFill>
                  <a:srgbClr val="FFFFFF"/>
                </a:solidFill>
                <a:latin typeface="MiSans" pitchFamily="34" charset="0"/>
                <a:ea typeface="MiSans" pitchFamily="34" charset="-122"/>
                <a:cs typeface="MiSans" pitchFamily="34" charset="-120"/>
              </a:rPr>
              <a:t>04</a:t>
            </a:r>
            <a:endParaRPr lang="en-US" sz="1600" dirty="0"/>
          </a:p>
        </p:txBody>
      </p:sp>
      <p:sp>
        <p:nvSpPr>
          <p:cNvPr id="32" name="Text 29"/>
          <p:cNvSpPr/>
          <p:nvPr/>
        </p:nvSpPr>
        <p:spPr>
          <a:xfrm>
            <a:off x="8924925" y="2646045"/>
            <a:ext cx="2789555" cy="553720"/>
          </a:xfrm>
          <a:prstGeom prst="rect">
            <a:avLst/>
          </a:prstGeom>
          <a:noFill/>
        </p:spPr>
        <p:txBody>
          <a:bodyPr wrap="square" lIns="0" tIns="0" rIns="0" bIns="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Additional Investment Requirements</a:t>
            </a:r>
            <a:endParaRPr lang="en-US" sz="1600" dirty="0"/>
          </a:p>
        </p:txBody>
      </p:sp>
      <p:sp>
        <p:nvSpPr>
          <p:cNvPr id="33" name="Text 30"/>
          <p:cNvSpPr/>
          <p:nvPr/>
        </p:nvSpPr>
        <p:spPr>
          <a:xfrm>
            <a:off x="9175750" y="3383915"/>
            <a:ext cx="2620010" cy="2729230"/>
          </a:xfrm>
          <a:prstGeom prst="rect">
            <a:avLst/>
          </a:prstGeom>
          <a:noFill/>
        </p:spPr>
        <p:txBody>
          <a:bodyPr wrap="square" lIns="45720" tIns="45720" rIns="45720" bIns="45720" rtlCol="0" anchor="t">
            <a:spAutoFit/>
          </a:bodyPr>
          <a:lstStyle/>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Implementation requires financial investment for rearranging assembly lines and establishing the recreational space.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3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These costs include physical infrastructure modifications, potential equipment relocation expenses, and facility preparation for the new rest area.</a:t>
            </a:r>
            <a:endParaRPr lang="en-US" sz="1200"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8-27-20:07:37-d2nfa298bjvh7rlj0gcg.png"/>
          <p:cNvPicPr>
            <a:picLocks noChangeAspect="1"/>
          </p:cNvPicPr>
          <p:nvPr/>
        </p:nvPicPr>
        <p:blipFill>
          <a:blip r:embed="rId1">
            <a:alphaModFix amt="10000"/>
          </a:blip>
          <a:srcRect l="26" r="26"/>
          <a:stretch>
            <a:fillRect/>
          </a:stretch>
        </p:blipFill>
        <p:spPr>
          <a:xfrm>
            <a:off x="0" y="0"/>
            <a:ext cx="12192000" cy="6858000"/>
          </a:xfrm>
          <a:prstGeom prst="rect">
            <a:avLst/>
          </a:prstGeom>
        </p:spPr>
      </p:pic>
      <p:sp>
        <p:nvSpPr>
          <p:cNvPr id="3" name="Text 0"/>
          <p:cNvSpPr/>
          <p:nvPr/>
        </p:nvSpPr>
        <p:spPr>
          <a:xfrm>
            <a:off x="652780" y="603885"/>
            <a:ext cx="10104755" cy="574040"/>
          </a:xfrm>
          <a:prstGeom prst="rect">
            <a:avLst/>
          </a:prstGeom>
          <a:noFill/>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Comprehensive Mitigation Strategies</a:t>
            </a:r>
            <a:endParaRPr lang="en-US" sz="1600" dirty="0"/>
          </a:p>
        </p:txBody>
      </p:sp>
      <p:sp>
        <p:nvSpPr>
          <p:cNvPr id="4" name="Shape 1"/>
          <p:cNvSpPr/>
          <p:nvPr/>
        </p:nvSpPr>
        <p:spPr>
          <a:xfrm>
            <a:off x="1139190" y="1641475"/>
            <a:ext cx="3289300" cy="4194175"/>
          </a:xfrm>
          <a:prstGeom prst="roundRect">
            <a:avLst>
              <a:gd name="adj" fmla="val 0"/>
            </a:avLst>
          </a:prstGeom>
          <a:solidFill>
            <a:srgbClr val="FFFFFF"/>
          </a:solidFill>
          <a:ln w="25400">
            <a:solidFill>
              <a:srgbClr val="E6E6FD"/>
            </a:solidFill>
            <a:prstDash val="solid"/>
          </a:ln>
        </p:spPr>
      </p:sp>
      <p:sp>
        <p:nvSpPr>
          <p:cNvPr id="5" name="Shape 2"/>
          <p:cNvSpPr/>
          <p:nvPr/>
        </p:nvSpPr>
        <p:spPr>
          <a:xfrm>
            <a:off x="1151255" y="5075555"/>
            <a:ext cx="3107690" cy="761365"/>
          </a:xfrm>
          <a:prstGeom prst="rtTriangle">
            <a:avLst/>
          </a:prstGeom>
          <a:solidFill>
            <a:srgbClr val="E6E6FD"/>
          </a:solidFill>
        </p:spPr>
      </p:sp>
      <p:sp>
        <p:nvSpPr>
          <p:cNvPr id="6" name="Shape 3"/>
          <p:cNvSpPr/>
          <p:nvPr/>
        </p:nvSpPr>
        <p:spPr>
          <a:xfrm flipH="1">
            <a:off x="1150620" y="4772025"/>
            <a:ext cx="3107690" cy="1064895"/>
          </a:xfrm>
          <a:prstGeom prst="rtTriangle">
            <a:avLst/>
          </a:prstGeom>
          <a:solidFill>
            <a:srgbClr val="E6E6FD"/>
          </a:solidFill>
        </p:spPr>
      </p:sp>
      <p:sp>
        <p:nvSpPr>
          <p:cNvPr id="7" name="Shape 4"/>
          <p:cNvSpPr/>
          <p:nvPr/>
        </p:nvSpPr>
        <p:spPr>
          <a:xfrm>
            <a:off x="4580890" y="1641475"/>
            <a:ext cx="3119120" cy="4194175"/>
          </a:xfrm>
          <a:prstGeom prst="roundRect">
            <a:avLst>
              <a:gd name="adj" fmla="val 0"/>
            </a:avLst>
          </a:prstGeom>
          <a:solidFill>
            <a:srgbClr val="FFFFFF"/>
          </a:solidFill>
          <a:ln w="25400">
            <a:solidFill>
              <a:srgbClr val="E6E6FD"/>
            </a:solidFill>
            <a:prstDash val="solid"/>
          </a:ln>
        </p:spPr>
      </p:sp>
      <p:sp>
        <p:nvSpPr>
          <p:cNvPr id="8" name="Shape 5"/>
          <p:cNvSpPr/>
          <p:nvPr/>
        </p:nvSpPr>
        <p:spPr>
          <a:xfrm>
            <a:off x="4592955" y="5075555"/>
            <a:ext cx="3107690" cy="761365"/>
          </a:xfrm>
          <a:prstGeom prst="rtTriangle">
            <a:avLst/>
          </a:prstGeom>
          <a:solidFill>
            <a:srgbClr val="E6E6FD"/>
          </a:solidFill>
        </p:spPr>
      </p:sp>
      <p:sp>
        <p:nvSpPr>
          <p:cNvPr id="9" name="Shape 6"/>
          <p:cNvSpPr/>
          <p:nvPr/>
        </p:nvSpPr>
        <p:spPr>
          <a:xfrm flipH="1">
            <a:off x="4592320" y="4772025"/>
            <a:ext cx="3107690" cy="1064895"/>
          </a:xfrm>
          <a:prstGeom prst="rtTriangle">
            <a:avLst/>
          </a:prstGeom>
          <a:solidFill>
            <a:srgbClr val="E6E6FD"/>
          </a:solidFill>
        </p:spPr>
      </p:sp>
      <p:sp>
        <p:nvSpPr>
          <p:cNvPr id="10" name="Shape 7"/>
          <p:cNvSpPr/>
          <p:nvPr/>
        </p:nvSpPr>
        <p:spPr>
          <a:xfrm>
            <a:off x="8022590" y="1641475"/>
            <a:ext cx="3119120" cy="4194175"/>
          </a:xfrm>
          <a:prstGeom prst="roundRect">
            <a:avLst>
              <a:gd name="adj" fmla="val 0"/>
            </a:avLst>
          </a:prstGeom>
          <a:solidFill>
            <a:srgbClr val="FFFFFF"/>
          </a:solidFill>
          <a:ln w="25400">
            <a:solidFill>
              <a:srgbClr val="E6E6FD"/>
            </a:solidFill>
            <a:prstDash val="solid"/>
          </a:ln>
        </p:spPr>
      </p:sp>
      <p:sp>
        <p:nvSpPr>
          <p:cNvPr id="11" name="Shape 8"/>
          <p:cNvSpPr/>
          <p:nvPr/>
        </p:nvSpPr>
        <p:spPr>
          <a:xfrm>
            <a:off x="8034655" y="5075555"/>
            <a:ext cx="3107690" cy="761365"/>
          </a:xfrm>
          <a:prstGeom prst="rtTriangle">
            <a:avLst/>
          </a:prstGeom>
          <a:solidFill>
            <a:srgbClr val="E6E6FD"/>
          </a:solidFill>
        </p:spPr>
      </p:sp>
      <p:sp>
        <p:nvSpPr>
          <p:cNvPr id="12" name="Shape 9"/>
          <p:cNvSpPr/>
          <p:nvPr/>
        </p:nvSpPr>
        <p:spPr>
          <a:xfrm flipH="1">
            <a:off x="8034020" y="4772025"/>
            <a:ext cx="3107690" cy="1064895"/>
          </a:xfrm>
          <a:prstGeom prst="rtTriangle">
            <a:avLst/>
          </a:prstGeom>
          <a:solidFill>
            <a:srgbClr val="E6E6FD"/>
          </a:solidFill>
        </p:spPr>
      </p:sp>
      <p:sp>
        <p:nvSpPr>
          <p:cNvPr id="13" name="Text 10"/>
          <p:cNvSpPr/>
          <p:nvPr/>
        </p:nvSpPr>
        <p:spPr>
          <a:xfrm>
            <a:off x="1365885" y="1803400"/>
            <a:ext cx="2933700" cy="645160"/>
          </a:xfrm>
          <a:prstGeom prst="rect">
            <a:avLst/>
          </a:prstGeom>
          <a:noFill/>
        </p:spPr>
        <p:txBody>
          <a:bodyPr wrap="square" lIns="91440" tIns="45720" rIns="91440" bIns="45720" rtlCol="0" anchor="t">
            <a:spAutoFit/>
          </a:bodyPr>
          <a:lstStyle/>
          <a:p>
            <a:pPr>
              <a:lnSpc>
                <a:spcPct val="100000"/>
              </a:lnSpc>
            </a:pPr>
            <a:r>
              <a:rPr lang="en-US" sz="1800" b="1" dirty="0">
                <a:solidFill>
                  <a:srgbClr val="000000"/>
                </a:solidFill>
                <a:latin typeface="MiSans" pitchFamily="34" charset="0"/>
                <a:ea typeface="MiSans" pitchFamily="34" charset="-122"/>
                <a:cs typeface="MiSans" pitchFamily="34" charset="-120"/>
              </a:rPr>
              <a:t>Phased Implementation Approach</a:t>
            </a:r>
            <a:endParaRPr lang="en-US" sz="1600" dirty="0"/>
          </a:p>
        </p:txBody>
      </p:sp>
      <p:sp>
        <p:nvSpPr>
          <p:cNvPr id="14" name="Text 11"/>
          <p:cNvSpPr/>
          <p:nvPr/>
        </p:nvSpPr>
        <p:spPr>
          <a:xfrm>
            <a:off x="1346835" y="2470785"/>
            <a:ext cx="2973070" cy="2416810"/>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Operations will shift in stages rather than simultaneously, maintaining partial production capacity throughout the transition.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Major layout changes should occur during non-peak hours and scheduled maintenance windows to minimize business impact.</a:t>
            </a:r>
            <a:endParaRPr lang="en-US" sz="1200" dirty="0">
              <a:solidFill>
                <a:srgbClr val="000000"/>
              </a:solidFill>
              <a:latin typeface="MiSans" pitchFamily="34" charset="0"/>
              <a:ea typeface="MiSans" pitchFamily="34" charset="-122"/>
              <a:cs typeface="MiSans" pitchFamily="34" charset="-120"/>
            </a:endParaRPr>
          </a:p>
        </p:txBody>
      </p:sp>
      <p:sp>
        <p:nvSpPr>
          <p:cNvPr id="15" name="Text 12"/>
          <p:cNvSpPr/>
          <p:nvPr/>
        </p:nvSpPr>
        <p:spPr>
          <a:xfrm>
            <a:off x="4807585" y="1803400"/>
            <a:ext cx="2655570" cy="672465"/>
          </a:xfrm>
          <a:prstGeom prst="rect">
            <a:avLst/>
          </a:prstGeom>
          <a:noFill/>
        </p:spPr>
        <p:txBody>
          <a:bodyPr wrap="square" lIns="91440" tIns="45720" rIns="91440" bIns="45720" rtlCol="0" anchor="t">
            <a:spAutoFit/>
          </a:bodyPr>
          <a:lstStyle/>
          <a:p>
            <a:pPr>
              <a:lnSpc>
                <a:spcPct val="100000"/>
              </a:lnSpc>
            </a:pPr>
            <a:r>
              <a:rPr lang="en-US" sz="1800" b="1" dirty="0">
                <a:solidFill>
                  <a:srgbClr val="000000"/>
                </a:solidFill>
                <a:latin typeface="MiSans" pitchFamily="34" charset="0"/>
                <a:ea typeface="MiSans" pitchFamily="34" charset="-122"/>
                <a:cs typeface="MiSans" pitchFamily="34" charset="-120"/>
              </a:rPr>
              <a:t>Pre-Implementation Preparation</a:t>
            </a:r>
            <a:endParaRPr lang="en-US" sz="1600" dirty="0"/>
          </a:p>
        </p:txBody>
      </p:sp>
      <p:sp>
        <p:nvSpPr>
          <p:cNvPr id="16" name="Text 13"/>
          <p:cNvSpPr/>
          <p:nvPr/>
        </p:nvSpPr>
        <p:spPr>
          <a:xfrm>
            <a:off x="4788535" y="2470785"/>
            <a:ext cx="2885440" cy="2675255"/>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Process simulation tools and trial runs with mock layouts will identify inefficiencies before full implementation.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Comprehensive worker training on new workflows and updated crane paths reduces adaptation time and operational errors during the transition period.</a:t>
            </a:r>
            <a:endParaRPr lang="en-US" sz="1200" dirty="0">
              <a:solidFill>
                <a:srgbClr val="000000"/>
              </a:solidFill>
              <a:latin typeface="MiSans" pitchFamily="34" charset="0"/>
              <a:ea typeface="MiSans" pitchFamily="34" charset="-122"/>
              <a:cs typeface="MiSans" pitchFamily="34" charset="-120"/>
            </a:endParaRPr>
          </a:p>
        </p:txBody>
      </p:sp>
      <p:sp>
        <p:nvSpPr>
          <p:cNvPr id="17" name="Text 14"/>
          <p:cNvSpPr/>
          <p:nvPr/>
        </p:nvSpPr>
        <p:spPr>
          <a:xfrm>
            <a:off x="8249285" y="1803400"/>
            <a:ext cx="2655570" cy="672465"/>
          </a:xfrm>
          <a:prstGeom prst="rect">
            <a:avLst/>
          </a:prstGeom>
          <a:noFill/>
        </p:spPr>
        <p:txBody>
          <a:bodyPr wrap="square" lIns="91440" tIns="45720" rIns="91440" bIns="45720" rtlCol="0" anchor="t">
            <a:spAutoFit/>
          </a:bodyPr>
          <a:lstStyle/>
          <a:p>
            <a:pPr>
              <a:lnSpc>
                <a:spcPct val="100000"/>
              </a:lnSpc>
            </a:pPr>
            <a:r>
              <a:rPr lang="en-US" sz="1800" b="1" dirty="0">
                <a:solidFill>
                  <a:srgbClr val="000000"/>
                </a:solidFill>
                <a:latin typeface="MiSans" pitchFamily="34" charset="0"/>
                <a:ea typeface="MiSans" pitchFamily="34" charset="-122"/>
                <a:cs typeface="MiSans" pitchFamily="34" charset="-120"/>
              </a:rPr>
              <a:t>Risk Management and Cost Control</a:t>
            </a:r>
            <a:endParaRPr lang="en-US" sz="1600" dirty="0"/>
          </a:p>
        </p:txBody>
      </p:sp>
      <p:sp>
        <p:nvSpPr>
          <p:cNvPr id="18" name="Text 15"/>
          <p:cNvSpPr/>
          <p:nvPr/>
        </p:nvSpPr>
        <p:spPr>
          <a:xfrm>
            <a:off x="8230235" y="2470785"/>
            <a:ext cx="2914015" cy="2675255"/>
          </a:xfrm>
          <a:prstGeom prst="rect">
            <a:avLst/>
          </a:prstGeom>
          <a:noFill/>
        </p:spPr>
        <p:txBody>
          <a:bodyPr wrap="square" lIns="91440" tIns="45720" rIns="91440" bIns="45720" rtlCol="0" anchor="t">
            <a:spAutoFit/>
          </a:bodyPr>
          <a:lstStyle/>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Temporary buffer stock maintained before transition prevents supply disruption. </a:t>
            </a: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endParaRPr lang="en-US" sz="1200" dirty="0">
              <a:solidFill>
                <a:srgbClr val="000000"/>
              </a:solidFill>
              <a:latin typeface="MiSans" pitchFamily="34" charset="0"/>
              <a:ea typeface="MiSans" pitchFamily="34" charset="-122"/>
              <a:cs typeface="MiSans" pitchFamily="34" charset="-120"/>
            </a:endParaRPr>
          </a:p>
          <a:p>
            <a:pPr marL="171450" indent="-171450">
              <a:lnSpc>
                <a:spcPct val="140000"/>
              </a:lnSpc>
              <a:buFont typeface="Arial" panose="020B0604020202090204" pitchFamily="34" charset="0"/>
              <a:buChar char="•"/>
            </a:pPr>
            <a:r>
              <a:rPr lang="en-US" sz="1200" dirty="0">
                <a:solidFill>
                  <a:srgbClr val="000000"/>
                </a:solidFill>
                <a:latin typeface="MiSans" pitchFamily="34" charset="0"/>
                <a:ea typeface="MiSans" pitchFamily="34" charset="-122"/>
                <a:cs typeface="MiSans" pitchFamily="34" charset="-120"/>
              </a:rPr>
              <a:t>Cost control measures prioritize high-impact, low-cost changes first, with the recreational area implementation deferred to later phases if budget constraints require phased investment.</a:t>
            </a:r>
            <a:endParaRPr lang="en-US" sz="1200"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9337</Words>
  <Application>WPS Presentation</Application>
  <PresentationFormat>Widescreen</PresentationFormat>
  <Paragraphs>289</Paragraphs>
  <Slides>18</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18</vt:i4>
      </vt:variant>
    </vt:vector>
  </HeadingPairs>
  <TitlesOfParts>
    <vt:vector size="36" baseType="lpstr">
      <vt:lpstr>Arial</vt:lpstr>
      <vt:lpstr>SimSun</vt:lpstr>
      <vt:lpstr>Wingdings</vt:lpstr>
      <vt:lpstr>Aptos</vt:lpstr>
      <vt:lpstr>Helvetica Neue</vt:lpstr>
      <vt:lpstr>Aptos Display</vt:lpstr>
      <vt:lpstr>Microsoft YaHei</vt:lpstr>
      <vt:lpstr>汉仪旗黑</vt:lpstr>
      <vt:lpstr>Arial Unicode MS</vt:lpstr>
      <vt:lpstr>Calibri</vt:lpstr>
      <vt:lpstr>宋体-简</vt:lpstr>
      <vt:lpstr>MiSans</vt:lpstr>
      <vt:lpstr>苹方-简</vt:lpstr>
      <vt:lpstr>MiSans</vt:lpstr>
      <vt:lpstr>MiSans</vt:lpstr>
      <vt:lpstr>Times New Roman</vt:lpstr>
      <vt:lpstr>Office Theme</vt:lpstr>
      <vt:lpstr>1_Office Theme</vt:lpstr>
      <vt:lpstr>Wheel Assembly Layout Proposal</vt:lpstr>
      <vt:lpstr>Original Layout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Wheel Assembly Layout Proposal</dc:title>
  <dc:creator>Garrett Chappell</dc:creator>
  <cp:lastModifiedBy>Shakib Shaan</cp:lastModifiedBy>
  <cp:revision>5</cp:revision>
  <dcterms:created xsi:type="dcterms:W3CDTF">2026-04-17T02:59:18Z</dcterms:created>
  <dcterms:modified xsi:type="dcterms:W3CDTF">2026-04-17T02:59:18Z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C8CE7E21AA88C1329B8DE169E4691C6C_42</vt:lpwstr>
  </property>
  <property fmtid="{D5CDD505-2E9C-101B-9397-08002B2CF9AE}" pid="3" name="KSOProductBuildVer">
    <vt:lpwstr>1033-12.1.23152.23152</vt:lpwstr>
  </property>
</Properties>
</file>